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61" r:id="rId4"/>
    <p:sldId id="262" r:id="rId5"/>
    <p:sldId id="263" r:id="rId6"/>
    <p:sldId id="258" r:id="rId7"/>
    <p:sldId id="259" r:id="rId8"/>
    <p:sldId id="264" r:id="rId9"/>
    <p:sldId id="265" r:id="rId10"/>
    <p:sldId id="266" r:id="rId11"/>
    <p:sldId id="267" r:id="rId12"/>
    <p:sldId id="268" r:id="rId13"/>
    <p:sldId id="269" r:id="rId14"/>
    <p:sldId id="260" r:id="rId15"/>
  </p:sldIdLst>
  <p:sldSz cx="9144000" cy="5143500" type="screen16x9"/>
  <p:notesSz cx="6858000" cy="9144000"/>
  <p:embeddedFontLst>
    <p:embeddedFont>
      <p:font typeface="Angie" pitchFamily="50" charset="0"/>
      <p:boldItalic r:id="rId17"/>
    </p:embeddedFont>
    <p:embeddedFont>
      <p:font typeface="Poppins" panose="00000500000000000000" pitchFamily="2" charset="0"/>
      <p:regular r:id="rId18"/>
      <p:bold r:id="rId19"/>
      <p:italic r:id="rId20"/>
      <p:boldItalic r:id="rId21"/>
    </p:embeddedFont>
    <p:embeddedFont>
      <p:font typeface="Poppins Light" panose="00000400000000000000" pitchFamily="2" charset="0"/>
      <p:regular r:id="rId22"/>
      <p:bold r:id="rId23"/>
      <p:italic r:id="rId24"/>
      <p:boldItalic r:id="rId25"/>
    </p:embeddedFont>
    <p:embeddedFont>
      <p:font typeface="Poppins SemiBold" panose="000007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jVdrDcdfEWB3ZzYMVTF/2iD1Dky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AA60"/>
    <a:srgbClr val="C4F63B"/>
    <a:srgbClr val="436AB2"/>
    <a:srgbClr val="3357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01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 name="Google Shape;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a:extLst>
            <a:ext uri="{FF2B5EF4-FFF2-40B4-BE49-F238E27FC236}">
              <a16:creationId xmlns:a16="http://schemas.microsoft.com/office/drawing/2014/main" id="{A2DEE9BC-C399-821A-8F5A-51EA90DA7D1D}"/>
            </a:ext>
          </a:extLst>
        </p:cNvPr>
        <p:cNvGrpSpPr/>
        <p:nvPr/>
      </p:nvGrpSpPr>
      <p:grpSpPr>
        <a:xfrm>
          <a:off x="0" y="0"/>
          <a:ext cx="0" cy="0"/>
          <a:chOff x="0" y="0"/>
          <a:chExt cx="0" cy="0"/>
        </a:xfrm>
      </p:grpSpPr>
      <p:sp>
        <p:nvSpPr>
          <p:cNvPr id="48" name="Google Shape;48;p2:notes">
            <a:extLst>
              <a:ext uri="{FF2B5EF4-FFF2-40B4-BE49-F238E27FC236}">
                <a16:creationId xmlns:a16="http://schemas.microsoft.com/office/drawing/2014/main" id="{9BBCFF14-A515-D34A-66E0-FF15C68F86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2:notes">
            <a:extLst>
              <a:ext uri="{FF2B5EF4-FFF2-40B4-BE49-F238E27FC236}">
                <a16:creationId xmlns:a16="http://schemas.microsoft.com/office/drawing/2014/main" id="{59682900-A8D5-2DB6-64B4-C91E9CA6E3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80920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a:extLst>
            <a:ext uri="{FF2B5EF4-FFF2-40B4-BE49-F238E27FC236}">
              <a16:creationId xmlns:a16="http://schemas.microsoft.com/office/drawing/2014/main" id="{29BDD053-CFF9-CFC2-567C-EB650C1CA8E2}"/>
            </a:ext>
          </a:extLst>
        </p:cNvPr>
        <p:cNvGrpSpPr/>
        <p:nvPr/>
      </p:nvGrpSpPr>
      <p:grpSpPr>
        <a:xfrm>
          <a:off x="0" y="0"/>
          <a:ext cx="0" cy="0"/>
          <a:chOff x="0" y="0"/>
          <a:chExt cx="0" cy="0"/>
        </a:xfrm>
      </p:grpSpPr>
      <p:sp>
        <p:nvSpPr>
          <p:cNvPr id="48" name="Google Shape;48;p2:notes">
            <a:extLst>
              <a:ext uri="{FF2B5EF4-FFF2-40B4-BE49-F238E27FC236}">
                <a16:creationId xmlns:a16="http://schemas.microsoft.com/office/drawing/2014/main" id="{D1480129-AA58-0F47-D24A-9C8B90B367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2:notes">
            <a:extLst>
              <a:ext uri="{FF2B5EF4-FFF2-40B4-BE49-F238E27FC236}">
                <a16:creationId xmlns:a16="http://schemas.microsoft.com/office/drawing/2014/main" id="{EB0F39BD-0529-B194-4544-65E19BC290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13802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a:extLst>
            <a:ext uri="{FF2B5EF4-FFF2-40B4-BE49-F238E27FC236}">
              <a16:creationId xmlns:a16="http://schemas.microsoft.com/office/drawing/2014/main" id="{027FA613-1D11-2096-8A70-32E77745597C}"/>
            </a:ext>
          </a:extLst>
        </p:cNvPr>
        <p:cNvGrpSpPr/>
        <p:nvPr/>
      </p:nvGrpSpPr>
      <p:grpSpPr>
        <a:xfrm>
          <a:off x="0" y="0"/>
          <a:ext cx="0" cy="0"/>
          <a:chOff x="0" y="0"/>
          <a:chExt cx="0" cy="0"/>
        </a:xfrm>
      </p:grpSpPr>
      <p:sp>
        <p:nvSpPr>
          <p:cNvPr id="48" name="Google Shape;48;p2:notes">
            <a:extLst>
              <a:ext uri="{FF2B5EF4-FFF2-40B4-BE49-F238E27FC236}">
                <a16:creationId xmlns:a16="http://schemas.microsoft.com/office/drawing/2014/main" id="{902CA03B-41C4-8E81-9C08-771ED1F1F0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2:notes">
            <a:extLst>
              <a:ext uri="{FF2B5EF4-FFF2-40B4-BE49-F238E27FC236}">
                <a16:creationId xmlns:a16="http://schemas.microsoft.com/office/drawing/2014/main" id="{B760263E-B334-ED18-37CD-05757684B9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80484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5AF7E100-5F48-EF6F-7A86-D2D4973094A1}"/>
            </a:ext>
          </a:extLst>
        </p:cNvPr>
        <p:cNvGrpSpPr/>
        <p:nvPr/>
      </p:nvGrpSpPr>
      <p:grpSpPr>
        <a:xfrm>
          <a:off x="0" y="0"/>
          <a:ext cx="0" cy="0"/>
          <a:chOff x="0" y="0"/>
          <a:chExt cx="0" cy="0"/>
        </a:xfrm>
      </p:grpSpPr>
      <p:sp>
        <p:nvSpPr>
          <p:cNvPr id="53" name="Google Shape;53;p3:notes">
            <a:extLst>
              <a:ext uri="{FF2B5EF4-FFF2-40B4-BE49-F238E27FC236}">
                <a16:creationId xmlns:a16="http://schemas.microsoft.com/office/drawing/2014/main" id="{E3CE69FC-8DF0-CAF1-E6A9-7609484DF6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3:notes">
            <a:extLst>
              <a:ext uri="{FF2B5EF4-FFF2-40B4-BE49-F238E27FC236}">
                <a16:creationId xmlns:a16="http://schemas.microsoft.com/office/drawing/2014/main" id="{3B0CEC0F-0AA8-8A16-A523-6BEEF7A3F7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17060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7"/>
          <p:cNvSpPr txBox="1">
            <a:spLocks noGrp="1"/>
          </p:cNvSpPr>
          <p:nvPr>
            <p:ph type="ctrTitle"/>
          </p:nvPr>
        </p:nvSpPr>
        <p:spPr>
          <a:xfrm>
            <a:off x="215700" y="859800"/>
            <a:ext cx="4020300" cy="24042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000"/>
              <a:buNone/>
              <a:defRPr sz="4000">
                <a:solidFill>
                  <a:schemeClr val="lt1"/>
                </a:solidFill>
              </a:defRPr>
            </a:lvl1pPr>
            <a:lvl2pPr lvl="1" algn="ctr">
              <a:lnSpc>
                <a:spcPct val="100000"/>
              </a:lnSpc>
              <a:spcBef>
                <a:spcPts val="0"/>
              </a:spcBef>
              <a:spcAft>
                <a:spcPts val="0"/>
              </a:spcAft>
              <a:buSzPts val="4100"/>
              <a:buNone/>
              <a:defRPr sz="4100"/>
            </a:lvl2pPr>
            <a:lvl3pPr lvl="2" algn="ctr">
              <a:lnSpc>
                <a:spcPct val="100000"/>
              </a:lnSpc>
              <a:spcBef>
                <a:spcPts val="0"/>
              </a:spcBef>
              <a:spcAft>
                <a:spcPts val="0"/>
              </a:spcAft>
              <a:buSzPts val="4100"/>
              <a:buNone/>
              <a:defRPr sz="4100"/>
            </a:lvl3pPr>
            <a:lvl4pPr lvl="3" algn="ctr">
              <a:lnSpc>
                <a:spcPct val="100000"/>
              </a:lnSpc>
              <a:spcBef>
                <a:spcPts val="0"/>
              </a:spcBef>
              <a:spcAft>
                <a:spcPts val="0"/>
              </a:spcAft>
              <a:buSzPts val="4100"/>
              <a:buNone/>
              <a:defRPr sz="4100"/>
            </a:lvl4pPr>
            <a:lvl5pPr lvl="4" algn="ctr">
              <a:lnSpc>
                <a:spcPct val="100000"/>
              </a:lnSpc>
              <a:spcBef>
                <a:spcPts val="0"/>
              </a:spcBef>
              <a:spcAft>
                <a:spcPts val="0"/>
              </a:spcAft>
              <a:buSzPts val="4100"/>
              <a:buNone/>
              <a:defRPr sz="4100"/>
            </a:lvl5pPr>
            <a:lvl6pPr lvl="5" algn="ctr">
              <a:lnSpc>
                <a:spcPct val="100000"/>
              </a:lnSpc>
              <a:spcBef>
                <a:spcPts val="0"/>
              </a:spcBef>
              <a:spcAft>
                <a:spcPts val="0"/>
              </a:spcAft>
              <a:buSzPts val="4100"/>
              <a:buNone/>
              <a:defRPr sz="4100"/>
            </a:lvl6pPr>
            <a:lvl7pPr lvl="6" algn="ctr">
              <a:lnSpc>
                <a:spcPct val="100000"/>
              </a:lnSpc>
              <a:spcBef>
                <a:spcPts val="0"/>
              </a:spcBef>
              <a:spcAft>
                <a:spcPts val="0"/>
              </a:spcAft>
              <a:buSzPts val="4100"/>
              <a:buNone/>
              <a:defRPr sz="4100"/>
            </a:lvl7pPr>
            <a:lvl8pPr lvl="7" algn="ctr">
              <a:lnSpc>
                <a:spcPct val="100000"/>
              </a:lnSpc>
              <a:spcBef>
                <a:spcPts val="0"/>
              </a:spcBef>
              <a:spcAft>
                <a:spcPts val="0"/>
              </a:spcAft>
              <a:buSzPts val="4100"/>
              <a:buNone/>
              <a:defRPr sz="4100"/>
            </a:lvl8pPr>
            <a:lvl9pPr lvl="8" algn="ctr">
              <a:lnSpc>
                <a:spcPct val="100000"/>
              </a:lnSpc>
              <a:spcBef>
                <a:spcPts val="0"/>
              </a:spcBef>
              <a:spcAft>
                <a:spcPts val="0"/>
              </a:spcAft>
              <a:buSzPts val="4100"/>
              <a:buNone/>
              <a:defRPr sz="4100"/>
            </a:lvl9pPr>
          </a:lstStyle>
          <a:p>
            <a:endParaRPr/>
          </a:p>
        </p:txBody>
      </p:sp>
      <p:sp>
        <p:nvSpPr>
          <p:cNvPr id="11" name="Google Shape;11;p7"/>
          <p:cNvSpPr txBox="1">
            <a:spLocks noGrp="1"/>
          </p:cNvSpPr>
          <p:nvPr>
            <p:ph type="subTitle" idx="1"/>
          </p:nvPr>
        </p:nvSpPr>
        <p:spPr>
          <a:xfrm>
            <a:off x="215700" y="4107600"/>
            <a:ext cx="4248300" cy="590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1900"/>
              <a:buNone/>
              <a:defRPr sz="1900"/>
            </a:lvl1pPr>
            <a:lvl2pPr lvl="1" algn="l">
              <a:lnSpc>
                <a:spcPct val="100000"/>
              </a:lnSpc>
              <a:spcBef>
                <a:spcPts val="0"/>
              </a:spcBef>
              <a:spcAft>
                <a:spcPts val="0"/>
              </a:spcAft>
              <a:buSzPts val="1900"/>
              <a:buNone/>
              <a:defRPr sz="1900"/>
            </a:lvl2pPr>
            <a:lvl3pPr lvl="2" algn="l">
              <a:lnSpc>
                <a:spcPct val="100000"/>
              </a:lnSpc>
              <a:spcBef>
                <a:spcPts val="0"/>
              </a:spcBef>
              <a:spcAft>
                <a:spcPts val="0"/>
              </a:spcAft>
              <a:buSzPts val="1900"/>
              <a:buNone/>
              <a:defRPr sz="1900"/>
            </a:lvl3pPr>
            <a:lvl4pPr lvl="3" algn="l">
              <a:lnSpc>
                <a:spcPct val="100000"/>
              </a:lnSpc>
              <a:spcBef>
                <a:spcPts val="0"/>
              </a:spcBef>
              <a:spcAft>
                <a:spcPts val="0"/>
              </a:spcAft>
              <a:buSzPts val="1900"/>
              <a:buNone/>
              <a:defRPr sz="1900"/>
            </a:lvl4pPr>
            <a:lvl5pPr lvl="4" algn="l">
              <a:lnSpc>
                <a:spcPct val="100000"/>
              </a:lnSpc>
              <a:spcBef>
                <a:spcPts val="0"/>
              </a:spcBef>
              <a:spcAft>
                <a:spcPts val="0"/>
              </a:spcAft>
              <a:buSzPts val="1900"/>
              <a:buNone/>
              <a:defRPr sz="1900"/>
            </a:lvl5pPr>
            <a:lvl6pPr lvl="5" algn="l">
              <a:lnSpc>
                <a:spcPct val="100000"/>
              </a:lnSpc>
              <a:spcBef>
                <a:spcPts val="0"/>
              </a:spcBef>
              <a:spcAft>
                <a:spcPts val="0"/>
              </a:spcAft>
              <a:buSzPts val="1900"/>
              <a:buNone/>
              <a:defRPr sz="1900"/>
            </a:lvl6pPr>
            <a:lvl7pPr lvl="6" algn="l">
              <a:lnSpc>
                <a:spcPct val="100000"/>
              </a:lnSpc>
              <a:spcBef>
                <a:spcPts val="0"/>
              </a:spcBef>
              <a:spcAft>
                <a:spcPts val="0"/>
              </a:spcAft>
              <a:buSzPts val="1900"/>
              <a:buNone/>
              <a:defRPr sz="1900"/>
            </a:lvl7pPr>
            <a:lvl8pPr lvl="7" algn="l">
              <a:lnSpc>
                <a:spcPct val="100000"/>
              </a:lnSpc>
              <a:spcBef>
                <a:spcPts val="0"/>
              </a:spcBef>
              <a:spcAft>
                <a:spcPts val="0"/>
              </a:spcAft>
              <a:buSzPts val="1900"/>
              <a:buNone/>
              <a:defRPr sz="1900"/>
            </a:lvl8pPr>
            <a:lvl9pPr lvl="8" algn="l">
              <a:lnSpc>
                <a:spcPct val="100000"/>
              </a:lnSpc>
              <a:spcBef>
                <a:spcPts val="0"/>
              </a:spcBef>
              <a:spcAft>
                <a:spcPts val="0"/>
              </a:spcAft>
              <a:buSzPts val="1900"/>
              <a:buNone/>
              <a:defRPr sz="1900"/>
            </a:lvl9pPr>
          </a:lstStyle>
          <a:p>
            <a:endParaRPr/>
          </a:p>
        </p:txBody>
      </p:sp>
      <p:sp>
        <p:nvSpPr>
          <p:cNvPr id="12" name="Google Shape;12;p7"/>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1080000" y="1958850"/>
            <a:ext cx="69840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a:endParaRPr/>
          </a:p>
        </p:txBody>
      </p:sp>
      <p:sp>
        <p:nvSpPr>
          <p:cNvPr id="15" name="Google Shape;15;p8"/>
          <p:cNvSpPr txBox="1">
            <a:spLocks noGrp="1"/>
          </p:cNvSpPr>
          <p:nvPr>
            <p:ph type="sldNum" idx="12"/>
          </p:nvPr>
        </p:nvSpPr>
        <p:spPr>
          <a:xfrm>
            <a:off x="8472458" y="48156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9"/>
          <p:cNvSpPr txBox="1">
            <a:spLocks noGrp="1"/>
          </p:cNvSpPr>
          <p:nvPr>
            <p:ph type="title"/>
          </p:nvPr>
        </p:nvSpPr>
        <p:spPr>
          <a:xfrm>
            <a:off x="311700" y="672450"/>
            <a:ext cx="5484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9"/>
          <p:cNvSpPr txBox="1">
            <a:spLocks noGrp="1"/>
          </p:cNvSpPr>
          <p:nvPr>
            <p:ph type="body" idx="1"/>
          </p:nvPr>
        </p:nvSpPr>
        <p:spPr>
          <a:xfrm>
            <a:off x="311700" y="1355375"/>
            <a:ext cx="8520600" cy="30468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Font typeface="Poppins"/>
              <a:buChar char="●"/>
              <a:defRPr>
                <a:latin typeface="Poppins"/>
                <a:ea typeface="Poppins"/>
                <a:cs typeface="Poppins"/>
                <a:sym typeface="Poppins"/>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9"/>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10"/>
          <p:cNvSpPr txBox="1">
            <a:spLocks noGrp="1"/>
          </p:cNvSpPr>
          <p:nvPr>
            <p:ph type="title"/>
          </p:nvPr>
        </p:nvSpPr>
        <p:spPr>
          <a:xfrm>
            <a:off x="265500" y="1425175"/>
            <a:ext cx="2638500" cy="14823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300"/>
              <a:buNone/>
              <a:defRPr sz="33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2" name="Google Shape;22;p10"/>
          <p:cNvSpPr txBox="1">
            <a:spLocks noGrp="1"/>
          </p:cNvSpPr>
          <p:nvPr>
            <p:ph type="subTitle" idx="1"/>
          </p:nvPr>
        </p:nvSpPr>
        <p:spPr>
          <a:xfrm>
            <a:off x="265500" y="3144000"/>
            <a:ext cx="2386500" cy="768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1pPr>
            <a:lvl2pPr lvl="1"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2pPr>
            <a:lvl3pPr lvl="2"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3pPr>
            <a:lvl4pPr lvl="3"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4pPr>
            <a:lvl5pPr lvl="4"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5pPr>
            <a:lvl6pPr lvl="5"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6pPr>
            <a:lvl7pPr lvl="6"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7pPr>
            <a:lvl8pPr lvl="7"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8pPr>
            <a:lvl9pPr lvl="8" algn="ctr">
              <a:lnSpc>
                <a:spcPct val="100000"/>
              </a:lnSpc>
              <a:spcBef>
                <a:spcPts val="0"/>
              </a:spcBef>
              <a:spcAft>
                <a:spcPts val="0"/>
              </a:spcAft>
              <a:buClr>
                <a:srgbClr val="C3F73A"/>
              </a:buClr>
              <a:buSzPts val="1700"/>
              <a:buFont typeface="Poppins Light"/>
              <a:buNone/>
              <a:defRPr sz="1700">
                <a:solidFill>
                  <a:srgbClr val="C3F73A"/>
                </a:solidFill>
                <a:latin typeface="Poppins Light"/>
                <a:ea typeface="Poppins Light"/>
                <a:cs typeface="Poppins Light"/>
                <a:sym typeface="Poppins Light"/>
              </a:defRPr>
            </a:lvl9pPr>
          </a:lstStyle>
          <a:p>
            <a:endParaRPr/>
          </a:p>
        </p:txBody>
      </p:sp>
      <p:sp>
        <p:nvSpPr>
          <p:cNvPr id="23" name="Google Shape;23;p10"/>
          <p:cNvSpPr txBox="1">
            <a:spLocks noGrp="1"/>
          </p:cNvSpPr>
          <p:nvPr>
            <p:ph type="body" idx="2"/>
          </p:nvPr>
        </p:nvSpPr>
        <p:spPr>
          <a:xfrm>
            <a:off x="3972000" y="724075"/>
            <a:ext cx="48045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4" name="Google Shape;24;p10"/>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12"/>
          <p:cNvSpPr txBox="1">
            <a:spLocks noGrp="1"/>
          </p:cNvSpPr>
          <p:nvPr>
            <p:ph type="title"/>
          </p:nvPr>
        </p:nvSpPr>
        <p:spPr>
          <a:xfrm>
            <a:off x="311700" y="579775"/>
            <a:ext cx="5484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1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9" name="Google Shape;29;p1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2"/>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1829850" y="2065025"/>
            <a:ext cx="54843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3" name="Google Shape;33;p13"/>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1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14"/>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5"/>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0D606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311700" y="579775"/>
            <a:ext cx="54843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52AA5E"/>
              </a:buClr>
              <a:buSzPts val="2800"/>
              <a:buFont typeface="Poppins"/>
              <a:buNone/>
              <a:defRPr sz="2800" b="1" i="0" u="none" strike="noStrike" cap="none">
                <a:solidFill>
                  <a:srgbClr val="52AA5E"/>
                </a:solidFill>
                <a:latin typeface="Poppins"/>
                <a:ea typeface="Poppins"/>
                <a:cs typeface="Poppins"/>
                <a:sym typeface="Poppins"/>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311700" y="1355375"/>
            <a:ext cx="8520600" cy="30468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accent2"/>
              </a:buClr>
              <a:buSzPts val="1800"/>
              <a:buFont typeface="Poppins SemiBold"/>
              <a:buChar char="●"/>
              <a:defRPr sz="1800" b="0" i="0" u="none" strike="noStrike" cap="none">
                <a:solidFill>
                  <a:schemeClr val="accent2"/>
                </a:solidFill>
                <a:latin typeface="Poppins SemiBold"/>
                <a:ea typeface="Poppins SemiBold"/>
                <a:cs typeface="Poppins SemiBold"/>
                <a:sym typeface="Poppins SemiBold"/>
              </a:defRPr>
            </a:lvl1pPr>
            <a:lvl2pPr marL="914400" marR="0" lvl="1"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2pPr>
            <a:lvl3pPr marL="1371600" marR="0" lvl="2"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3pPr>
            <a:lvl4pPr marL="1828800" marR="0" lvl="3"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4pPr>
            <a:lvl5pPr marL="2286000" marR="0" lvl="4"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5pPr>
            <a:lvl6pPr marL="2743200" marR="0" lvl="5"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6pPr>
            <a:lvl7pPr marL="3200400" marR="0" lvl="6"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7pPr>
            <a:lvl8pPr marL="3657600" marR="0" lvl="7"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8pPr>
            <a:lvl9pPr marL="4114800" marR="0" lvl="8" indent="-317500" algn="l" rtl="0">
              <a:lnSpc>
                <a:spcPct val="115000"/>
              </a:lnSpc>
              <a:spcBef>
                <a:spcPts val="0"/>
              </a:spcBef>
              <a:spcAft>
                <a:spcPts val="0"/>
              </a:spcAft>
              <a:buClr>
                <a:schemeClr val="accent2"/>
              </a:buClr>
              <a:buSzPts val="1400"/>
              <a:buFont typeface="Poppins"/>
              <a:buChar char="■"/>
              <a:defRPr sz="1400" b="0" i="0" u="none" strike="noStrike" cap="none">
                <a:solidFill>
                  <a:schemeClr val="accent2"/>
                </a:solidFill>
                <a:latin typeface="Poppins"/>
                <a:ea typeface="Poppins"/>
                <a:cs typeface="Poppins"/>
                <a:sym typeface="Poppins"/>
              </a:defRPr>
            </a:lvl9pPr>
          </a:lstStyle>
          <a:p>
            <a:endParaRPr/>
          </a:p>
        </p:txBody>
      </p:sp>
      <p:sp>
        <p:nvSpPr>
          <p:cNvPr id="8" name="Google Shape;8;p6"/>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9.emf"/></Relationships>
</file>

<file path=ppt/slides/_rels/slide14.xml.rels><?xml version="1.0" encoding="UTF-8" standalone="yes"?>
<Relationships xmlns="http://schemas.openxmlformats.org/package/2006/relationships"><Relationship Id="rId3" Type="http://schemas.openxmlformats.org/officeDocument/2006/relationships/hyperlink" Target="https://www.linkedin.com/in/maulana-irfan/"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s://github.com/fafnir9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p:nvPr/>
        </p:nvSpPr>
        <p:spPr>
          <a:xfrm>
            <a:off x="215700" y="859800"/>
            <a:ext cx="4020300" cy="2404200"/>
          </a:xfrm>
          <a:prstGeom prst="rect">
            <a:avLst/>
          </a:prstGeom>
          <a:noFill/>
          <a:ln>
            <a:noFill/>
          </a:ln>
        </p:spPr>
        <p:txBody>
          <a:bodyPr spcFirstLastPara="1" wrap="square" lIns="91425" tIns="91425" rIns="91425" bIns="91425" anchor="ctr" anchorCtr="0">
            <a:normAutofit fontScale="70000" lnSpcReduction="20000"/>
          </a:bodyPr>
          <a:lstStyle/>
          <a:p>
            <a:pPr marL="0" lvl="0" indent="0" algn="l" rtl="0">
              <a:spcBef>
                <a:spcPts val="0"/>
              </a:spcBef>
              <a:spcAft>
                <a:spcPts val="0"/>
              </a:spcAft>
              <a:buNone/>
            </a:pPr>
            <a:r>
              <a:rPr lang="id-ID" sz="4000" b="1" dirty="0">
                <a:solidFill>
                  <a:srgbClr val="FFFFFF"/>
                </a:solidFill>
                <a:latin typeface="Angie" pitchFamily="50" charset="0"/>
                <a:ea typeface="Poppins"/>
                <a:cs typeface="Poppins"/>
                <a:sym typeface="Poppins"/>
              </a:rPr>
              <a:t>"</a:t>
            </a:r>
            <a:r>
              <a:rPr lang="id-ID" sz="4000" b="1" i="1" dirty="0" err="1">
                <a:solidFill>
                  <a:srgbClr val="FFFFFF"/>
                </a:solidFill>
                <a:latin typeface="Angie" pitchFamily="50" charset="0"/>
                <a:ea typeface="Poppins"/>
                <a:cs typeface="Poppins"/>
                <a:sym typeface="Poppins"/>
              </a:rPr>
              <a:t>Navigating</a:t>
            </a:r>
            <a:r>
              <a:rPr lang="id-ID" sz="4000" b="1" i="1" dirty="0">
                <a:solidFill>
                  <a:srgbClr val="FFFFFF"/>
                </a:solidFill>
                <a:latin typeface="Angie" pitchFamily="50" charset="0"/>
                <a:ea typeface="Poppins"/>
                <a:cs typeface="Poppins"/>
                <a:sym typeface="Poppins"/>
              </a:rPr>
              <a:t> </a:t>
            </a:r>
            <a:r>
              <a:rPr lang="id-ID" sz="4000" b="1" i="1" dirty="0" err="1">
                <a:solidFill>
                  <a:srgbClr val="FFFFFF"/>
                </a:solidFill>
                <a:latin typeface="Angie" pitchFamily="50" charset="0"/>
                <a:ea typeface="Poppins"/>
                <a:cs typeface="Poppins"/>
                <a:sym typeface="Poppins"/>
              </a:rPr>
              <a:t>the</a:t>
            </a:r>
            <a:r>
              <a:rPr lang="id-ID" sz="4000" b="1" i="1" dirty="0">
                <a:solidFill>
                  <a:srgbClr val="FFFFFF"/>
                </a:solidFill>
                <a:latin typeface="Angie" pitchFamily="50" charset="0"/>
                <a:ea typeface="Poppins"/>
                <a:cs typeface="Poppins"/>
                <a:sym typeface="Poppins"/>
              </a:rPr>
              <a:t> </a:t>
            </a:r>
            <a:r>
              <a:rPr lang="id-ID" sz="4000" b="1" i="1" dirty="0" err="1">
                <a:solidFill>
                  <a:srgbClr val="FFFFFF"/>
                </a:solidFill>
                <a:latin typeface="Angie" pitchFamily="50" charset="0"/>
                <a:ea typeface="Poppins"/>
                <a:cs typeface="Poppins"/>
                <a:sym typeface="Poppins"/>
              </a:rPr>
              <a:t>Pulse</a:t>
            </a:r>
            <a:r>
              <a:rPr lang="id-ID" sz="4000" b="1" i="1" dirty="0">
                <a:solidFill>
                  <a:srgbClr val="FFFFFF"/>
                </a:solidFill>
                <a:latin typeface="Angie" pitchFamily="50" charset="0"/>
                <a:ea typeface="Poppins"/>
                <a:cs typeface="Poppins"/>
                <a:sym typeface="Poppins"/>
              </a:rPr>
              <a:t> </a:t>
            </a:r>
            <a:r>
              <a:rPr lang="id-ID" sz="4000" b="1" i="1" dirty="0" err="1">
                <a:solidFill>
                  <a:srgbClr val="FFFFFF"/>
                </a:solidFill>
                <a:latin typeface="Angie" pitchFamily="50" charset="0"/>
                <a:ea typeface="Poppins"/>
                <a:cs typeface="Poppins"/>
                <a:sym typeface="Poppins"/>
              </a:rPr>
              <a:t>of</a:t>
            </a:r>
            <a:r>
              <a:rPr lang="id-ID" sz="4000" b="1" i="1" dirty="0">
                <a:solidFill>
                  <a:srgbClr val="FFFFFF"/>
                </a:solidFill>
                <a:latin typeface="Angie" pitchFamily="50" charset="0"/>
                <a:ea typeface="Poppins"/>
                <a:cs typeface="Poppins"/>
                <a:sym typeface="Poppins"/>
              </a:rPr>
              <a:t> Jakarta": </a:t>
            </a:r>
            <a:r>
              <a:rPr lang="en-US" sz="4000" dirty="0">
                <a:solidFill>
                  <a:srgbClr val="C4F63B"/>
                </a:solidFill>
                <a:latin typeface="Angie" pitchFamily="50" charset="0"/>
                <a:ea typeface="Poppins"/>
                <a:cs typeface="Poppins"/>
                <a:sym typeface="Poppins"/>
              </a:rPr>
              <a:t>Uncovering Hidden Patterns Behind Millions of </a:t>
            </a:r>
            <a:r>
              <a:rPr lang="en-US" sz="4000" dirty="0" err="1">
                <a:solidFill>
                  <a:srgbClr val="C4F63B"/>
                </a:solidFill>
                <a:latin typeface="Angie" pitchFamily="50" charset="0"/>
                <a:ea typeface="Poppins"/>
                <a:cs typeface="Poppins"/>
                <a:sym typeface="Poppins"/>
              </a:rPr>
              <a:t>Transjakarta</a:t>
            </a:r>
            <a:r>
              <a:rPr lang="en-US" sz="4000" dirty="0">
                <a:solidFill>
                  <a:srgbClr val="C4F63B"/>
                </a:solidFill>
                <a:latin typeface="Angie" pitchFamily="50" charset="0"/>
                <a:ea typeface="Poppins"/>
                <a:cs typeface="Poppins"/>
                <a:sym typeface="Poppins"/>
              </a:rPr>
              <a:t> Transactions</a:t>
            </a:r>
            <a:endParaRPr sz="4000" dirty="0">
              <a:solidFill>
                <a:srgbClr val="C4F63B"/>
              </a:solidFill>
              <a:latin typeface="Angie" pitchFamily="50" charset="0"/>
              <a:ea typeface="Poppins"/>
              <a:cs typeface="Poppins"/>
              <a:sym typeface="Poppins"/>
            </a:endParaRPr>
          </a:p>
        </p:txBody>
      </p:sp>
      <p:sp>
        <p:nvSpPr>
          <p:cNvPr id="45" name="Google Shape;45;p1"/>
          <p:cNvSpPr txBox="1"/>
          <p:nvPr/>
        </p:nvSpPr>
        <p:spPr>
          <a:xfrm>
            <a:off x="215700" y="4443675"/>
            <a:ext cx="4248300" cy="590700"/>
          </a:xfrm>
          <a:prstGeom prst="rect">
            <a:avLst/>
          </a:prstGeom>
          <a:noFill/>
          <a:ln>
            <a:noFill/>
          </a:ln>
        </p:spPr>
        <p:txBody>
          <a:bodyPr spcFirstLastPara="1" wrap="square" lIns="91425" tIns="91425" rIns="91425" bIns="91425" anchor="ctr" anchorCtr="0">
            <a:normAutofit/>
          </a:bodyPr>
          <a:lstStyle/>
          <a:p>
            <a:pPr marL="0" lvl="0" indent="0" algn="l" rtl="0">
              <a:spcBef>
                <a:spcPts val="0"/>
              </a:spcBef>
              <a:spcAft>
                <a:spcPts val="0"/>
              </a:spcAft>
              <a:buNone/>
            </a:pPr>
            <a:endParaRPr sz="1900" b="1" dirty="0">
              <a:solidFill>
                <a:srgbClr val="212121"/>
              </a:solidFill>
              <a:latin typeface="Poppins SemiBold"/>
              <a:ea typeface="Poppins SemiBold"/>
              <a:cs typeface="Poppins SemiBold"/>
              <a:sym typeface="Poppins SemiBold"/>
            </a:endParaRPr>
          </a:p>
        </p:txBody>
      </p:sp>
      <p:sp>
        <p:nvSpPr>
          <p:cNvPr id="46" name="Google Shape;46;p1"/>
          <p:cNvSpPr txBox="1"/>
          <p:nvPr/>
        </p:nvSpPr>
        <p:spPr>
          <a:xfrm>
            <a:off x="215700" y="3731942"/>
            <a:ext cx="4356300" cy="1025912"/>
          </a:xfrm>
          <a:prstGeom prst="rect">
            <a:avLst/>
          </a:prstGeom>
          <a:noFill/>
          <a:ln>
            <a:noFill/>
          </a:ln>
        </p:spPr>
        <p:txBody>
          <a:bodyPr spcFirstLastPara="1" wrap="square" lIns="91425" tIns="91425" rIns="91425" bIns="91425" anchor="ctr" anchorCtr="0">
            <a:normAutofit/>
          </a:bodyPr>
          <a:lstStyle/>
          <a:p>
            <a:r>
              <a:rPr lang="id-ID" sz="2400" b="1" dirty="0">
                <a:solidFill>
                  <a:srgbClr val="212121"/>
                </a:solidFill>
                <a:latin typeface="Poppins" panose="00000500000000000000" pitchFamily="2" charset="0"/>
                <a:ea typeface="Poppins SemiBold"/>
                <a:cs typeface="Poppins" panose="00000500000000000000" pitchFamily="2" charset="0"/>
                <a:sym typeface="Poppins SemiBold"/>
              </a:rPr>
              <a:t>Irfan Maulana</a:t>
            </a:r>
            <a:endParaRPr lang="en" sz="2400" b="1" dirty="0">
              <a:solidFill>
                <a:srgbClr val="212121"/>
              </a:solidFill>
              <a:latin typeface="Poppins" panose="00000500000000000000" pitchFamily="2" charset="0"/>
              <a:ea typeface="Poppins SemiBold"/>
              <a:cs typeface="Poppins" panose="00000500000000000000" pitchFamily="2" charset="0"/>
              <a:sym typeface="Poppins SemiBold"/>
            </a:endParaRPr>
          </a:p>
          <a:p>
            <a:pPr marL="0" lvl="0" indent="0" algn="l" rtl="0">
              <a:spcBef>
                <a:spcPts val="0"/>
              </a:spcBef>
              <a:spcAft>
                <a:spcPts val="0"/>
              </a:spcAft>
              <a:buNone/>
            </a:pPr>
            <a:r>
              <a:rPr lang="en" b="1" dirty="0">
                <a:solidFill>
                  <a:srgbClr val="212121"/>
                </a:solidFill>
                <a:latin typeface="Poppins" panose="00000500000000000000" pitchFamily="2" charset="0"/>
                <a:ea typeface="Poppins SemiBold"/>
                <a:cs typeface="Poppins" panose="00000500000000000000" pitchFamily="2" charset="0"/>
                <a:sym typeface="Poppins SemiBold"/>
              </a:rPr>
              <a:t>Data Analyst – Final Project Ms. Excel DQLab</a:t>
            </a:r>
            <a:endParaRPr b="1" dirty="0">
              <a:solidFill>
                <a:srgbClr val="212121"/>
              </a:solidFill>
              <a:latin typeface="Poppins" panose="00000500000000000000" pitchFamily="2" charset="0"/>
              <a:ea typeface="Poppins SemiBold"/>
              <a:cs typeface="Poppins" panose="00000500000000000000" pitchFamily="2" charset="0"/>
              <a:sym typeface="Poppins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2"/>
          <p:cNvSpPr txBox="1">
            <a:spLocks noGrp="1"/>
          </p:cNvSpPr>
          <p:nvPr>
            <p:ph type="title"/>
          </p:nvPr>
        </p:nvSpPr>
        <p:spPr>
          <a:xfrm>
            <a:off x="1094033" y="325312"/>
            <a:ext cx="69840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200"/>
              <a:buNone/>
            </a:pPr>
            <a:r>
              <a:rPr lang="en-US" dirty="0">
                <a:solidFill>
                  <a:srgbClr val="C4F63B"/>
                </a:solidFill>
              </a:rPr>
              <a:t>Business Overview </a:t>
            </a:r>
            <a:r>
              <a:rPr lang="en-US" dirty="0" err="1">
                <a:solidFill>
                  <a:srgbClr val="C4F63B"/>
                </a:solidFill>
              </a:rPr>
              <a:t>Transjakarta</a:t>
            </a:r>
            <a:endParaRPr dirty="0">
              <a:solidFill>
                <a:srgbClr val="C4F63B"/>
              </a:solidFill>
            </a:endParaRPr>
          </a:p>
        </p:txBody>
      </p:sp>
      <p:sp>
        <p:nvSpPr>
          <p:cNvPr id="2" name="Google Shape;51;p2">
            <a:extLst>
              <a:ext uri="{FF2B5EF4-FFF2-40B4-BE49-F238E27FC236}">
                <a16:creationId xmlns:a16="http://schemas.microsoft.com/office/drawing/2014/main" id="{4F30492D-4133-6883-E746-8E52FE54EAE9}"/>
              </a:ext>
            </a:extLst>
          </p:cNvPr>
          <p:cNvSpPr txBox="1">
            <a:spLocks/>
          </p:cNvSpPr>
          <p:nvPr/>
        </p:nvSpPr>
        <p:spPr>
          <a:xfrm>
            <a:off x="437780" y="1167112"/>
            <a:ext cx="8268439" cy="3256205"/>
          </a:xfrm>
          <a:prstGeom prst="rect">
            <a:avLst/>
          </a:prstGeom>
          <a:noFill/>
          <a:ln>
            <a:noFill/>
          </a:ln>
        </p:spPr>
        <p:txBody>
          <a:bodyPr spcFirstLastPara="1" wrap="square" lIns="91425" tIns="91425" rIns="91425" bIns="91425" anchor="ctr" anchorCtr="0">
            <a:normAutofit fontScale="850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200"/>
              <a:buFont typeface="Poppins"/>
              <a:buNone/>
              <a:defRPr sz="32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9pPr>
          </a:lstStyle>
          <a:p>
            <a:pPr marL="457200" indent="-457200" algn="l">
              <a:buFont typeface="+mj-lt"/>
              <a:buAutoNum type="arabicPeriod"/>
            </a:pPr>
            <a:r>
              <a:rPr lang="en-US" sz="2000" dirty="0">
                <a:solidFill>
                  <a:schemeClr val="bg1"/>
                </a:solidFill>
              </a:rPr>
              <a:t>The Pulse of Mobility: </a:t>
            </a:r>
            <a:r>
              <a:rPr lang="en-US" sz="2000" b="0" dirty="0" err="1">
                <a:solidFill>
                  <a:schemeClr val="bg1"/>
                </a:solidFill>
              </a:rPr>
              <a:t>Transjakarta</a:t>
            </a:r>
            <a:r>
              <a:rPr lang="en-US" sz="2000" b="0" dirty="0">
                <a:solidFill>
                  <a:schemeClr val="bg1"/>
                </a:solidFill>
              </a:rPr>
              <a:t> is not just a mode of transportation; it is the pulse of Jakarta citizens' mobility with millions of daily transactions.</a:t>
            </a:r>
          </a:p>
          <a:p>
            <a:pPr marL="457200" indent="-457200" algn="l">
              <a:buFont typeface="+mj-lt"/>
              <a:buAutoNum type="arabicPeriod"/>
            </a:pPr>
            <a:r>
              <a:rPr lang="en-US" sz="2000" dirty="0">
                <a:solidFill>
                  <a:schemeClr val="bg1"/>
                </a:solidFill>
              </a:rPr>
              <a:t>World's Longest BRT:</a:t>
            </a:r>
            <a:r>
              <a:rPr lang="en-US" sz="2000" b="0" dirty="0">
                <a:solidFill>
                  <a:schemeClr val="bg1"/>
                </a:solidFill>
              </a:rPr>
              <a:t> </a:t>
            </a:r>
            <a:r>
              <a:rPr lang="en-US" sz="2000" b="0" dirty="0" err="1">
                <a:solidFill>
                  <a:schemeClr val="bg1"/>
                </a:solidFill>
              </a:rPr>
              <a:t>Transjakarta</a:t>
            </a:r>
            <a:r>
              <a:rPr lang="en-US" sz="2000" b="0" dirty="0">
                <a:solidFill>
                  <a:schemeClr val="bg1"/>
                </a:solidFill>
              </a:rPr>
              <a:t> is not merely a city bus, but a Bus Rapid Transit (BRT) system with the longest track in the world (over 250 km).</a:t>
            </a:r>
          </a:p>
          <a:p>
            <a:pPr marL="457200" indent="-457200" algn="l">
              <a:buFont typeface="+mj-lt"/>
              <a:buAutoNum type="arabicPeriod"/>
            </a:pPr>
            <a:r>
              <a:rPr lang="en-US" sz="2000" dirty="0">
                <a:solidFill>
                  <a:schemeClr val="bg1"/>
                </a:solidFill>
              </a:rPr>
              <a:t>Integration Ecosystem (</a:t>
            </a:r>
            <a:r>
              <a:rPr lang="en-US" sz="2000" dirty="0" err="1">
                <a:solidFill>
                  <a:schemeClr val="bg1"/>
                </a:solidFill>
              </a:rPr>
              <a:t>JakLingko</a:t>
            </a:r>
            <a:r>
              <a:rPr lang="en-US" sz="2000" dirty="0">
                <a:solidFill>
                  <a:schemeClr val="bg1"/>
                </a:solidFill>
              </a:rPr>
              <a:t>): </a:t>
            </a:r>
            <a:r>
              <a:rPr lang="en-US" sz="2000" b="0" dirty="0">
                <a:solidFill>
                  <a:schemeClr val="bg1"/>
                </a:solidFill>
              </a:rPr>
              <a:t>Currently, </a:t>
            </a:r>
            <a:r>
              <a:rPr lang="en-US" sz="2000" b="0" dirty="0" err="1">
                <a:solidFill>
                  <a:schemeClr val="bg1"/>
                </a:solidFill>
              </a:rPr>
              <a:t>Transjakarta</a:t>
            </a:r>
            <a:r>
              <a:rPr lang="en-US" sz="2000" b="0" dirty="0">
                <a:solidFill>
                  <a:schemeClr val="bg1"/>
                </a:solidFill>
              </a:rPr>
              <a:t> has transformed into a giant ecosystem under the umbrella of </a:t>
            </a:r>
            <a:r>
              <a:rPr lang="en-US" sz="2000" b="0" dirty="0" err="1">
                <a:solidFill>
                  <a:schemeClr val="bg1"/>
                </a:solidFill>
              </a:rPr>
              <a:t>JakLingko</a:t>
            </a:r>
            <a:r>
              <a:rPr lang="en-US" sz="2000" b="0" dirty="0">
                <a:solidFill>
                  <a:schemeClr val="bg1"/>
                </a:solidFill>
              </a:rPr>
              <a:t>, integrating Big Buses (BRT), Non-BRT Buses, and micro-transport (</a:t>
            </a:r>
            <a:r>
              <a:rPr lang="en-US" sz="2000" b="0" dirty="0" err="1">
                <a:solidFill>
                  <a:schemeClr val="bg1"/>
                </a:solidFill>
              </a:rPr>
              <a:t>Mikrotrans</a:t>
            </a:r>
            <a:r>
              <a:rPr lang="en-US" sz="2000" b="0" dirty="0">
                <a:solidFill>
                  <a:schemeClr val="bg1"/>
                </a:solidFill>
              </a:rPr>
              <a:t>/</a:t>
            </a:r>
            <a:r>
              <a:rPr lang="en-US" sz="2000" b="0" dirty="0" err="1">
                <a:solidFill>
                  <a:schemeClr val="bg1"/>
                </a:solidFill>
              </a:rPr>
              <a:t>Angkot</a:t>
            </a:r>
            <a:r>
              <a:rPr lang="en-US" sz="2000" b="0" dirty="0">
                <a:solidFill>
                  <a:schemeClr val="bg1"/>
                </a:solidFill>
              </a:rPr>
              <a:t>) with a single centralized cashless payment system.</a:t>
            </a:r>
          </a:p>
          <a:p>
            <a:pPr marL="457200" indent="-457200" algn="l">
              <a:buFont typeface="+mj-lt"/>
              <a:buAutoNum type="arabicPeriod"/>
            </a:pPr>
            <a:r>
              <a:rPr lang="en-US" sz="2000" dirty="0">
                <a:solidFill>
                  <a:schemeClr val="bg1"/>
                </a:solidFill>
              </a:rPr>
              <a:t>Massive Volume: </a:t>
            </a:r>
            <a:r>
              <a:rPr lang="en-US" sz="2000" b="0" dirty="0">
                <a:solidFill>
                  <a:schemeClr val="bg1"/>
                </a:solidFill>
              </a:rPr>
              <a:t>Serving millions of customers daily, generating transaction data that is extremely large (Big Data) and complex.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B272D9AC-57A6-2F48-EA1D-98927E7C9B60}"/>
            </a:ext>
          </a:extLst>
        </p:cNvPr>
        <p:cNvGrpSpPr/>
        <p:nvPr/>
      </p:nvGrpSpPr>
      <p:grpSpPr>
        <a:xfrm>
          <a:off x="0" y="0"/>
          <a:ext cx="0" cy="0"/>
          <a:chOff x="0" y="0"/>
          <a:chExt cx="0" cy="0"/>
        </a:xfrm>
      </p:grpSpPr>
      <p:sp>
        <p:nvSpPr>
          <p:cNvPr id="51" name="Google Shape;51;p2">
            <a:extLst>
              <a:ext uri="{FF2B5EF4-FFF2-40B4-BE49-F238E27FC236}">
                <a16:creationId xmlns:a16="http://schemas.microsoft.com/office/drawing/2014/main" id="{61EE8DB3-7EC5-8F4F-1EF6-8F1DB1AE4087}"/>
              </a:ext>
            </a:extLst>
          </p:cNvPr>
          <p:cNvSpPr txBox="1">
            <a:spLocks noGrp="1"/>
          </p:cNvSpPr>
          <p:nvPr>
            <p:ph type="title"/>
          </p:nvPr>
        </p:nvSpPr>
        <p:spPr>
          <a:xfrm>
            <a:off x="1094033" y="325312"/>
            <a:ext cx="6984000" cy="841800"/>
          </a:xfrm>
          <a:prstGeom prst="rect">
            <a:avLst/>
          </a:prstGeom>
          <a:noFill/>
          <a:ln>
            <a:noFill/>
          </a:ln>
        </p:spPr>
        <p:txBody>
          <a:bodyPr spcFirstLastPara="1" wrap="square" lIns="91425" tIns="91425" rIns="91425" bIns="91425" anchor="ctr" anchorCtr="0">
            <a:normAutofit fontScale="90000"/>
          </a:bodyPr>
          <a:lstStyle/>
          <a:p>
            <a:pPr marL="0" lvl="0" indent="0" algn="ctr" rtl="0">
              <a:lnSpc>
                <a:spcPct val="100000"/>
              </a:lnSpc>
              <a:spcBef>
                <a:spcPts val="0"/>
              </a:spcBef>
              <a:spcAft>
                <a:spcPts val="0"/>
              </a:spcAft>
              <a:buSzPts val="3200"/>
              <a:buNone/>
            </a:pPr>
            <a:r>
              <a:rPr lang="en-US" dirty="0">
                <a:solidFill>
                  <a:srgbClr val="C4F63B"/>
                </a:solidFill>
              </a:rPr>
              <a:t>Storytelling Dataset </a:t>
            </a:r>
            <a:r>
              <a:rPr lang="en-US" dirty="0" err="1">
                <a:solidFill>
                  <a:srgbClr val="C4F63B"/>
                </a:solidFill>
              </a:rPr>
              <a:t>Transjakarta</a:t>
            </a:r>
            <a:endParaRPr dirty="0">
              <a:solidFill>
                <a:srgbClr val="C4F63B"/>
              </a:solidFill>
            </a:endParaRPr>
          </a:p>
        </p:txBody>
      </p:sp>
      <p:sp>
        <p:nvSpPr>
          <p:cNvPr id="2" name="Google Shape;51;p2">
            <a:extLst>
              <a:ext uri="{FF2B5EF4-FFF2-40B4-BE49-F238E27FC236}">
                <a16:creationId xmlns:a16="http://schemas.microsoft.com/office/drawing/2014/main" id="{5E6D5207-8093-A0D2-A37B-65AB5EF6AEA9}"/>
              </a:ext>
            </a:extLst>
          </p:cNvPr>
          <p:cNvSpPr txBox="1">
            <a:spLocks/>
          </p:cNvSpPr>
          <p:nvPr/>
        </p:nvSpPr>
        <p:spPr>
          <a:xfrm>
            <a:off x="437780" y="1018479"/>
            <a:ext cx="8268439" cy="3546088"/>
          </a:xfrm>
          <a:prstGeom prst="rect">
            <a:avLst/>
          </a:prstGeom>
          <a:noFill/>
          <a:ln>
            <a:noFill/>
          </a:ln>
        </p:spPr>
        <p:txBody>
          <a:bodyPr spcFirstLastPara="1" wrap="square" lIns="91425" tIns="91425" rIns="91425" bIns="91425" anchor="ctr" anchorCtr="0">
            <a:normAutofit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200"/>
              <a:buFont typeface="Poppins"/>
              <a:buNone/>
              <a:defRPr sz="32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9pPr>
          </a:lstStyle>
          <a:p>
            <a:pPr algn="l"/>
            <a:r>
              <a:rPr lang="en-US" sz="2000" b="0" dirty="0"/>
              <a:t>Every time a card is tapped at the gate (Tap-In), it is not just a ticket payment. It is a digital footprint telling the story of Jakarta citizens' lives.</a:t>
            </a:r>
          </a:p>
          <a:p>
            <a:pPr algn="l"/>
            <a:endParaRPr lang="en-US" sz="2000" b="0" dirty="0"/>
          </a:p>
          <a:p>
            <a:pPr algn="l"/>
            <a:r>
              <a:rPr lang="en-US" sz="2000" b="0" dirty="0">
                <a:solidFill>
                  <a:schemeClr val="bg1"/>
                </a:solidFill>
              </a:rPr>
              <a:t>This dataset records passenger activity for 1 full month, covering:</a:t>
            </a:r>
          </a:p>
          <a:p>
            <a:pPr marL="342900" indent="-342900" algn="l">
              <a:buFont typeface="Arial" panose="020B0604020202020204" pitchFamily="34" charset="0"/>
              <a:buChar char="•"/>
            </a:pPr>
            <a:r>
              <a:rPr lang="en-US" sz="2000" dirty="0">
                <a:solidFill>
                  <a:schemeClr val="bg1"/>
                </a:solidFill>
              </a:rPr>
              <a:t>Who are they? </a:t>
            </a:r>
            <a:r>
              <a:rPr lang="en-US" sz="2000" b="0" dirty="0">
                <a:solidFill>
                  <a:schemeClr val="bg1"/>
                </a:solidFill>
              </a:rPr>
              <a:t>(Demographic profile &amp; payment preferences).</a:t>
            </a:r>
          </a:p>
          <a:p>
            <a:pPr marL="342900" indent="-342900" algn="l">
              <a:buFont typeface="Arial" panose="020B0604020202020204" pitchFamily="34" charset="0"/>
              <a:buChar char="•"/>
            </a:pPr>
            <a:r>
              <a:rPr lang="en-US" sz="2000" dirty="0">
                <a:solidFill>
                  <a:schemeClr val="bg1"/>
                </a:solidFill>
              </a:rPr>
              <a:t>When do they move? </a:t>
            </a:r>
            <a:r>
              <a:rPr lang="en-US" sz="2000" b="0" dirty="0">
                <a:solidFill>
                  <a:schemeClr val="bg1"/>
                </a:solidFill>
              </a:rPr>
              <a:t>(Peak hour patterns and holidays).</a:t>
            </a:r>
          </a:p>
          <a:p>
            <a:pPr marL="342900" indent="-342900" algn="l">
              <a:buFont typeface="Arial" panose="020B0604020202020204" pitchFamily="34" charset="0"/>
              <a:buChar char="•"/>
            </a:pPr>
            <a:r>
              <a:rPr lang="en-US" sz="2000" dirty="0">
                <a:solidFill>
                  <a:schemeClr val="bg1"/>
                </a:solidFill>
              </a:rPr>
              <a:t>Where do they go? </a:t>
            </a:r>
            <a:r>
              <a:rPr lang="en-US" sz="2000" b="0" dirty="0">
                <a:solidFill>
                  <a:schemeClr val="bg1"/>
                </a:solidFill>
              </a:rPr>
              <a:t>(Favorite routes and crowd centers).</a:t>
            </a:r>
          </a:p>
          <a:p>
            <a:pPr marL="342900" indent="-342900" algn="l">
              <a:buFont typeface="Arial" panose="020B0604020202020204" pitchFamily="34" charset="0"/>
              <a:buChar char="•"/>
            </a:pPr>
            <a:r>
              <a:rPr lang="en-US" sz="2000" dirty="0">
                <a:solidFill>
                  <a:schemeClr val="bg1"/>
                </a:solidFill>
              </a:rPr>
              <a:t>What is the economic value? </a:t>
            </a:r>
            <a:r>
              <a:rPr lang="en-US" sz="2000" b="0" dirty="0">
                <a:solidFill>
                  <a:schemeClr val="bg1"/>
                </a:solidFill>
              </a:rPr>
              <a:t>(Revenue contribution per hour)</a:t>
            </a:r>
          </a:p>
        </p:txBody>
      </p:sp>
    </p:spTree>
    <p:extLst>
      <p:ext uri="{BB962C8B-B14F-4D97-AF65-F5344CB8AC3E}">
        <p14:creationId xmlns:p14="http://schemas.microsoft.com/office/powerpoint/2010/main" val="358676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664B8032-FB56-CCC8-C38D-2084E0DDEB4F}"/>
            </a:ext>
          </a:extLst>
        </p:cNvPr>
        <p:cNvGrpSpPr/>
        <p:nvPr/>
      </p:nvGrpSpPr>
      <p:grpSpPr>
        <a:xfrm>
          <a:off x="0" y="0"/>
          <a:ext cx="0" cy="0"/>
          <a:chOff x="0" y="0"/>
          <a:chExt cx="0" cy="0"/>
        </a:xfrm>
      </p:grpSpPr>
      <p:sp>
        <p:nvSpPr>
          <p:cNvPr id="51" name="Google Shape;51;p2">
            <a:extLst>
              <a:ext uri="{FF2B5EF4-FFF2-40B4-BE49-F238E27FC236}">
                <a16:creationId xmlns:a16="http://schemas.microsoft.com/office/drawing/2014/main" id="{DCD89F66-6C2A-44DA-A5D1-A00E6279570A}"/>
              </a:ext>
            </a:extLst>
          </p:cNvPr>
          <p:cNvSpPr txBox="1">
            <a:spLocks noGrp="1"/>
          </p:cNvSpPr>
          <p:nvPr>
            <p:ph type="title"/>
          </p:nvPr>
        </p:nvSpPr>
        <p:spPr>
          <a:xfrm>
            <a:off x="1079997" y="392220"/>
            <a:ext cx="69840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200"/>
              <a:buNone/>
            </a:pPr>
            <a:r>
              <a:rPr lang="en-US" dirty="0">
                <a:solidFill>
                  <a:srgbClr val="C4F63B"/>
                </a:solidFill>
              </a:rPr>
              <a:t>Strategic Missions</a:t>
            </a:r>
            <a:endParaRPr dirty="0">
              <a:solidFill>
                <a:srgbClr val="C4F63B"/>
              </a:solidFill>
            </a:endParaRPr>
          </a:p>
        </p:txBody>
      </p:sp>
      <p:sp>
        <p:nvSpPr>
          <p:cNvPr id="2" name="Google Shape;51;p2">
            <a:extLst>
              <a:ext uri="{FF2B5EF4-FFF2-40B4-BE49-F238E27FC236}">
                <a16:creationId xmlns:a16="http://schemas.microsoft.com/office/drawing/2014/main" id="{8C307028-1857-B83C-D93F-4D15431DCF74}"/>
              </a:ext>
            </a:extLst>
          </p:cNvPr>
          <p:cNvSpPr txBox="1">
            <a:spLocks/>
          </p:cNvSpPr>
          <p:nvPr/>
        </p:nvSpPr>
        <p:spPr>
          <a:xfrm>
            <a:off x="565910" y="1357684"/>
            <a:ext cx="8268439" cy="2215374"/>
          </a:xfrm>
          <a:prstGeom prst="rect">
            <a:avLst/>
          </a:prstGeom>
          <a:noFill/>
          <a:ln>
            <a:noFill/>
          </a:ln>
        </p:spPr>
        <p:txBody>
          <a:bodyPr spcFirstLastPara="1" wrap="square" lIns="91425" tIns="91425" rIns="91425" bIns="91425" anchor="ctr" anchorCtr="0">
            <a:normAutofit fontScale="850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200"/>
              <a:buFont typeface="Poppins"/>
              <a:buNone/>
              <a:defRPr sz="32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9pPr>
          </a:lstStyle>
          <a:p>
            <a:pPr algn="l"/>
            <a:r>
              <a:rPr lang="en-US" sz="2000" b="0" dirty="0">
                <a:solidFill>
                  <a:schemeClr val="bg1"/>
                </a:solidFill>
              </a:rPr>
              <a:t>The objectives of this analysis are summarized in 3 Strategic Pillars:</a:t>
            </a:r>
          </a:p>
          <a:p>
            <a:pPr algn="l"/>
            <a:endParaRPr lang="en-US" sz="2000" b="0" dirty="0">
              <a:solidFill>
                <a:schemeClr val="bg1"/>
              </a:solidFill>
            </a:endParaRPr>
          </a:p>
          <a:p>
            <a:pPr marL="342900" indent="-342900" algn="l">
              <a:buFont typeface="Arial" panose="020B0604020202020204" pitchFamily="34" charset="0"/>
              <a:buChar char="•"/>
            </a:pPr>
            <a:r>
              <a:rPr lang="en-US" sz="2000" dirty="0">
                <a:solidFill>
                  <a:schemeClr val="bg1"/>
                </a:solidFill>
              </a:rPr>
              <a:t>Revenue Optimization:</a:t>
            </a:r>
            <a:r>
              <a:rPr lang="en-US" sz="2000" b="0" dirty="0">
                <a:solidFill>
                  <a:schemeClr val="bg1"/>
                </a:solidFill>
              </a:rPr>
              <a:t> Identifying key revenue sources and validating the Pareto Law (80/20) in operations.</a:t>
            </a:r>
          </a:p>
          <a:p>
            <a:pPr marL="342900" indent="-342900" algn="l">
              <a:buFont typeface="Arial" panose="020B0604020202020204" pitchFamily="34" charset="0"/>
              <a:buChar char="•"/>
            </a:pPr>
            <a:r>
              <a:rPr lang="en-US" sz="2000" dirty="0">
                <a:solidFill>
                  <a:schemeClr val="bg1"/>
                </a:solidFill>
              </a:rPr>
              <a:t>Operational Excellence: </a:t>
            </a:r>
            <a:r>
              <a:rPr lang="en-US" sz="2000" b="0" dirty="0">
                <a:solidFill>
                  <a:schemeClr val="bg1"/>
                </a:solidFill>
              </a:rPr>
              <a:t>Adjusting fleet schedules based on accurate Peak Hour data (not just intuition).</a:t>
            </a:r>
          </a:p>
          <a:p>
            <a:pPr marL="342900" indent="-342900" algn="l">
              <a:buFont typeface="Arial" panose="020B0604020202020204" pitchFamily="34" charset="0"/>
              <a:buChar char="•"/>
            </a:pPr>
            <a:r>
              <a:rPr lang="en-US" sz="2000" dirty="0">
                <a:solidFill>
                  <a:schemeClr val="bg1"/>
                </a:solidFill>
              </a:rPr>
              <a:t>Customer Centricity: </a:t>
            </a:r>
            <a:r>
              <a:rPr lang="en-US" sz="2000" b="0" dirty="0">
                <a:solidFill>
                  <a:schemeClr val="bg1"/>
                </a:solidFill>
              </a:rPr>
              <a:t>Understanding passenger profiles (Generation &amp; Bank) for more personalized partnership and promotion strategies.</a:t>
            </a:r>
          </a:p>
          <a:p>
            <a:pPr algn="l"/>
            <a:endParaRPr lang="en-US" sz="2000" b="0" dirty="0">
              <a:solidFill>
                <a:schemeClr val="bg1"/>
              </a:solidFill>
            </a:endParaRPr>
          </a:p>
        </p:txBody>
      </p:sp>
      <p:pic>
        <p:nvPicPr>
          <p:cNvPr id="5" name="Picture 4">
            <a:extLst>
              <a:ext uri="{FF2B5EF4-FFF2-40B4-BE49-F238E27FC236}">
                <a16:creationId xmlns:a16="http://schemas.microsoft.com/office/drawing/2014/main" id="{6FB07361-8043-31E1-AB83-664C2EBB7CBA}"/>
              </a:ext>
            </a:extLst>
          </p:cNvPr>
          <p:cNvPicPr>
            <a:picLocks noChangeAspect="1"/>
          </p:cNvPicPr>
          <p:nvPr/>
        </p:nvPicPr>
        <p:blipFill>
          <a:blip r:embed="rId3"/>
          <a:stretch>
            <a:fillRect/>
          </a:stretch>
        </p:blipFill>
        <p:spPr>
          <a:xfrm>
            <a:off x="3691284" y="3053741"/>
            <a:ext cx="1761428" cy="1761428"/>
          </a:xfrm>
          <a:prstGeom prst="rect">
            <a:avLst/>
          </a:prstGeom>
        </p:spPr>
      </p:pic>
    </p:spTree>
    <p:extLst>
      <p:ext uri="{BB962C8B-B14F-4D97-AF65-F5344CB8AC3E}">
        <p14:creationId xmlns:p14="http://schemas.microsoft.com/office/powerpoint/2010/main" val="2630129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
          <a:extLst>
            <a:ext uri="{FF2B5EF4-FFF2-40B4-BE49-F238E27FC236}">
              <a16:creationId xmlns:a16="http://schemas.microsoft.com/office/drawing/2014/main" id="{C3F314E4-76D6-A71C-137E-F381C5E4864D}"/>
            </a:ext>
          </a:extLst>
        </p:cNvPr>
        <p:cNvGrpSpPr/>
        <p:nvPr/>
      </p:nvGrpSpPr>
      <p:grpSpPr>
        <a:xfrm>
          <a:off x="0" y="0"/>
          <a:ext cx="0" cy="0"/>
          <a:chOff x="0" y="0"/>
          <a:chExt cx="0" cy="0"/>
        </a:xfrm>
      </p:grpSpPr>
      <p:sp>
        <p:nvSpPr>
          <p:cNvPr id="51" name="Google Shape;51;p2">
            <a:extLst>
              <a:ext uri="{FF2B5EF4-FFF2-40B4-BE49-F238E27FC236}">
                <a16:creationId xmlns:a16="http://schemas.microsoft.com/office/drawing/2014/main" id="{AFEFE40F-17AC-C03B-81F2-A913EBC24A97}"/>
              </a:ext>
            </a:extLst>
          </p:cNvPr>
          <p:cNvSpPr txBox="1">
            <a:spLocks noGrp="1"/>
          </p:cNvSpPr>
          <p:nvPr>
            <p:ph type="title"/>
          </p:nvPr>
        </p:nvSpPr>
        <p:spPr>
          <a:xfrm>
            <a:off x="1080000" y="222280"/>
            <a:ext cx="6984000" cy="700551"/>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200"/>
              <a:buNone/>
            </a:pPr>
            <a:r>
              <a:rPr lang="en-US" dirty="0">
                <a:solidFill>
                  <a:srgbClr val="C4F63B"/>
                </a:solidFill>
              </a:rPr>
              <a:t>Data Preparation</a:t>
            </a:r>
            <a:endParaRPr dirty="0">
              <a:solidFill>
                <a:srgbClr val="C4F63B"/>
              </a:solidFill>
            </a:endParaRPr>
          </a:p>
        </p:txBody>
      </p:sp>
      <p:sp>
        <p:nvSpPr>
          <p:cNvPr id="2" name="Google Shape;51;p2">
            <a:extLst>
              <a:ext uri="{FF2B5EF4-FFF2-40B4-BE49-F238E27FC236}">
                <a16:creationId xmlns:a16="http://schemas.microsoft.com/office/drawing/2014/main" id="{58804A41-0DB7-0C8D-2D2E-42DBA00876AC}"/>
              </a:ext>
            </a:extLst>
          </p:cNvPr>
          <p:cNvSpPr txBox="1">
            <a:spLocks/>
          </p:cNvSpPr>
          <p:nvPr/>
        </p:nvSpPr>
        <p:spPr>
          <a:xfrm>
            <a:off x="519555" y="922831"/>
            <a:ext cx="8268439" cy="700551"/>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200"/>
              <a:buFont typeface="Poppins"/>
              <a:buNone/>
              <a:defRPr sz="32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9pPr>
          </a:lstStyle>
          <a:p>
            <a:r>
              <a:rPr lang="en-US" sz="1200" b="0" dirty="0">
                <a:solidFill>
                  <a:schemeClr val="bg1"/>
                </a:solidFill>
              </a:rPr>
              <a:t>Before analysis, Data Cleaning and Data Processing were performed using </a:t>
            </a:r>
            <a:r>
              <a:rPr lang="en-US" sz="1200" dirty="0">
                <a:solidFill>
                  <a:schemeClr val="bg1"/>
                </a:solidFill>
              </a:rPr>
              <a:t>Power Query </a:t>
            </a:r>
            <a:r>
              <a:rPr lang="en-US" sz="1200" b="0" dirty="0">
                <a:solidFill>
                  <a:schemeClr val="bg1"/>
                </a:solidFill>
              </a:rPr>
              <a:t>to handle duplicates, input errors, and missing values to obtain actionable insights</a:t>
            </a:r>
            <a:endParaRPr lang="en-US" sz="1100" b="0" dirty="0">
              <a:solidFill>
                <a:schemeClr val="bg1"/>
              </a:solidFill>
            </a:endParaRPr>
          </a:p>
        </p:txBody>
      </p:sp>
      <p:pic>
        <p:nvPicPr>
          <p:cNvPr id="7" name="Picture 6" descr="A screenshot of a computer&#10;&#10;AI-generated content may be incorrect.">
            <a:extLst>
              <a:ext uri="{FF2B5EF4-FFF2-40B4-BE49-F238E27FC236}">
                <a16:creationId xmlns:a16="http://schemas.microsoft.com/office/drawing/2014/main" id="{A5B070EF-00CB-77A1-94E4-0F607EA1ADB8}"/>
              </a:ext>
            </a:extLst>
          </p:cNvPr>
          <p:cNvPicPr>
            <a:picLocks noChangeAspect="1"/>
          </p:cNvPicPr>
          <p:nvPr/>
        </p:nvPicPr>
        <p:blipFill>
          <a:blip r:embed="rId3"/>
          <a:stretch>
            <a:fillRect/>
          </a:stretch>
        </p:blipFill>
        <p:spPr>
          <a:xfrm>
            <a:off x="519555" y="1741867"/>
            <a:ext cx="3679903" cy="201966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8" name="Arrow: Right 7">
            <a:extLst>
              <a:ext uri="{FF2B5EF4-FFF2-40B4-BE49-F238E27FC236}">
                <a16:creationId xmlns:a16="http://schemas.microsoft.com/office/drawing/2014/main" id="{AAE3C8FA-D1DE-E33F-C3CB-FB5BE7C6497F}"/>
              </a:ext>
            </a:extLst>
          </p:cNvPr>
          <p:cNvSpPr/>
          <p:nvPr/>
        </p:nvSpPr>
        <p:spPr>
          <a:xfrm>
            <a:off x="4441900" y="2632426"/>
            <a:ext cx="423747" cy="324696"/>
          </a:xfrm>
          <a:prstGeom prst="rightArrow">
            <a:avLst/>
          </a:prstGeom>
          <a:solidFill>
            <a:srgbClr val="C4F6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10" name="Picture 9" descr="A screenshot of a computer&#10;&#10;AI-generated content may be incorrect.">
            <a:extLst>
              <a:ext uri="{FF2B5EF4-FFF2-40B4-BE49-F238E27FC236}">
                <a16:creationId xmlns:a16="http://schemas.microsoft.com/office/drawing/2014/main" id="{45259D81-BD12-EC69-09FE-B2C9D2A89446}"/>
              </a:ext>
            </a:extLst>
          </p:cNvPr>
          <p:cNvPicPr>
            <a:picLocks noChangeAspect="1"/>
          </p:cNvPicPr>
          <p:nvPr/>
        </p:nvPicPr>
        <p:blipFill>
          <a:blip r:embed="rId4"/>
          <a:stretch>
            <a:fillRect/>
          </a:stretch>
        </p:blipFill>
        <p:spPr>
          <a:xfrm>
            <a:off x="5108089" y="1741867"/>
            <a:ext cx="3597293" cy="201966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2" name="Google Shape;51;p2">
            <a:extLst>
              <a:ext uri="{FF2B5EF4-FFF2-40B4-BE49-F238E27FC236}">
                <a16:creationId xmlns:a16="http://schemas.microsoft.com/office/drawing/2014/main" id="{CB476DC5-F40E-72F7-30A3-79A25C40E33B}"/>
              </a:ext>
            </a:extLst>
          </p:cNvPr>
          <p:cNvSpPr txBox="1">
            <a:spLocks/>
          </p:cNvSpPr>
          <p:nvPr/>
        </p:nvSpPr>
        <p:spPr>
          <a:xfrm>
            <a:off x="519555" y="3966166"/>
            <a:ext cx="3922345" cy="700551"/>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200"/>
              <a:buFont typeface="Poppins"/>
              <a:buNone/>
              <a:defRPr sz="32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9pPr>
          </a:lstStyle>
          <a:p>
            <a:r>
              <a:rPr lang="en-US" sz="1100" dirty="0">
                <a:solidFill>
                  <a:schemeClr val="bg1"/>
                </a:solidFill>
              </a:rPr>
              <a:t>Data Cleaning</a:t>
            </a:r>
          </a:p>
          <a:p>
            <a:r>
              <a:rPr lang="en-US" sz="1100" b="0" dirty="0">
                <a:solidFill>
                  <a:schemeClr val="bg1"/>
                </a:solidFill>
              </a:rPr>
              <a:t>Cleaning data from duplicate, miss imputation, or missing value.</a:t>
            </a:r>
          </a:p>
        </p:txBody>
      </p:sp>
      <p:sp>
        <p:nvSpPr>
          <p:cNvPr id="13" name="Google Shape;51;p2">
            <a:extLst>
              <a:ext uri="{FF2B5EF4-FFF2-40B4-BE49-F238E27FC236}">
                <a16:creationId xmlns:a16="http://schemas.microsoft.com/office/drawing/2014/main" id="{7F96E673-36FF-D3E7-2C6E-4DFFADF81F62}"/>
              </a:ext>
            </a:extLst>
          </p:cNvPr>
          <p:cNvSpPr txBox="1">
            <a:spLocks/>
          </p:cNvSpPr>
          <p:nvPr/>
        </p:nvSpPr>
        <p:spPr>
          <a:xfrm>
            <a:off x="4945562" y="3955064"/>
            <a:ext cx="3922345" cy="700551"/>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200"/>
              <a:buFont typeface="Poppins"/>
              <a:buNone/>
              <a:defRPr sz="32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9pPr>
          </a:lstStyle>
          <a:p>
            <a:r>
              <a:rPr lang="en-US" sz="1100" dirty="0">
                <a:solidFill>
                  <a:schemeClr val="bg1"/>
                </a:solidFill>
              </a:rPr>
              <a:t>Data Proses di Power Query</a:t>
            </a:r>
            <a:endParaRPr lang="en-US" sz="1100" b="0" dirty="0">
              <a:solidFill>
                <a:schemeClr val="bg1"/>
              </a:solidFill>
            </a:endParaRPr>
          </a:p>
          <a:p>
            <a:r>
              <a:rPr lang="en-US" sz="1100" b="0" dirty="0">
                <a:solidFill>
                  <a:schemeClr val="bg1"/>
                </a:solidFill>
              </a:rPr>
              <a:t>Process data to get insight</a:t>
            </a:r>
          </a:p>
        </p:txBody>
      </p:sp>
    </p:spTree>
    <p:extLst>
      <p:ext uri="{BB962C8B-B14F-4D97-AF65-F5344CB8AC3E}">
        <p14:creationId xmlns:p14="http://schemas.microsoft.com/office/powerpoint/2010/main" val="1376503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a:spLocks noGrp="1"/>
          </p:cNvSpPr>
          <p:nvPr>
            <p:ph type="title"/>
          </p:nvPr>
        </p:nvSpPr>
        <p:spPr>
          <a:xfrm>
            <a:off x="311699" y="672450"/>
            <a:ext cx="6319559"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dirty="0" err="1"/>
              <a:t>Transjakarta</a:t>
            </a:r>
            <a:r>
              <a:rPr lang="en-US" dirty="0"/>
              <a:t> Overview (April 2023)</a:t>
            </a:r>
            <a:endParaRPr dirty="0"/>
          </a:p>
        </p:txBody>
      </p:sp>
      <p:sp>
        <p:nvSpPr>
          <p:cNvPr id="57" name="Google Shape;57;p3"/>
          <p:cNvSpPr txBox="1">
            <a:spLocks noGrp="1"/>
          </p:cNvSpPr>
          <p:nvPr>
            <p:ph type="body" idx="1"/>
          </p:nvPr>
        </p:nvSpPr>
        <p:spPr>
          <a:xfrm>
            <a:off x="4493214" y="1355375"/>
            <a:ext cx="4339085" cy="3046800"/>
          </a:xfrm>
          <a:prstGeom prst="rect">
            <a:avLst/>
          </a:prstGeom>
          <a:noFill/>
          <a:ln>
            <a:noFill/>
          </a:ln>
        </p:spPr>
        <p:txBody>
          <a:bodyPr spcFirstLastPara="1" wrap="square" lIns="91425" tIns="91425" rIns="91425" bIns="91425" anchor="t" anchorCtr="0">
            <a:normAutofit/>
          </a:bodyPr>
          <a:lstStyle/>
          <a:p>
            <a:pPr marL="285750" indent="-285750">
              <a:spcAft>
                <a:spcPts val="1200"/>
              </a:spcAft>
            </a:pPr>
            <a:r>
              <a:rPr lang="en-US" b="1" dirty="0"/>
              <a:t>Total Revenue: </a:t>
            </a:r>
            <a:r>
              <a:rPr lang="en-US" dirty="0"/>
              <a:t>Rp94,628,000.</a:t>
            </a:r>
          </a:p>
          <a:p>
            <a:pPr marL="285750" indent="-285750">
              <a:spcAft>
                <a:spcPts val="1200"/>
              </a:spcAft>
            </a:pPr>
            <a:r>
              <a:rPr lang="en-US" b="1" dirty="0"/>
              <a:t>Total Transactions: </a:t>
            </a:r>
            <a:r>
              <a:rPr lang="en-US" dirty="0"/>
              <a:t>35,970 passengers.</a:t>
            </a:r>
          </a:p>
          <a:p>
            <a:pPr marL="285750" indent="-285750">
              <a:spcAft>
                <a:spcPts val="1200"/>
              </a:spcAft>
            </a:pPr>
            <a:r>
              <a:rPr lang="en-US" b="1" dirty="0"/>
              <a:t>Average Ticket Price: </a:t>
            </a:r>
            <a:r>
              <a:rPr lang="en-US" dirty="0"/>
              <a:t>Rp2,702.73.</a:t>
            </a:r>
          </a:p>
          <a:p>
            <a:pPr marL="285750" indent="-285750">
              <a:spcAft>
                <a:spcPts val="1200"/>
              </a:spcAft>
            </a:pPr>
            <a:r>
              <a:rPr lang="en-US" b="1" dirty="0"/>
              <a:t>Missing Tap-out: </a:t>
            </a:r>
            <a:r>
              <a:rPr lang="en-US" dirty="0"/>
              <a:t>1,268 (approx. 3.53% of passengers failed to tap out).</a:t>
            </a:r>
            <a:endParaRPr dirty="0"/>
          </a:p>
        </p:txBody>
      </p:sp>
      <p:pic>
        <p:nvPicPr>
          <p:cNvPr id="5" name="Picture 4" descr="A blue squares with white text&#10;&#10;AI-generated content may be incorrect.">
            <a:extLst>
              <a:ext uri="{FF2B5EF4-FFF2-40B4-BE49-F238E27FC236}">
                <a16:creationId xmlns:a16="http://schemas.microsoft.com/office/drawing/2014/main" id="{EA772618-C44E-0223-1608-1A0F6DA850E2}"/>
              </a:ext>
            </a:extLst>
          </p:cNvPr>
          <p:cNvPicPr>
            <a:picLocks noChangeAspect="1"/>
          </p:cNvPicPr>
          <p:nvPr/>
        </p:nvPicPr>
        <p:blipFill>
          <a:blip r:embed="rId3"/>
          <a:stretch>
            <a:fillRect/>
          </a:stretch>
        </p:blipFill>
        <p:spPr>
          <a:xfrm>
            <a:off x="81797" y="2111033"/>
            <a:ext cx="4339086" cy="8379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4"/>
          <p:cNvSpPr txBox="1">
            <a:spLocks noGrp="1"/>
          </p:cNvSpPr>
          <p:nvPr>
            <p:ph type="title"/>
          </p:nvPr>
        </p:nvSpPr>
        <p:spPr>
          <a:xfrm>
            <a:off x="265499" y="503341"/>
            <a:ext cx="2638500" cy="641518"/>
          </a:xfrm>
          <a:prstGeom prst="rect">
            <a:avLst/>
          </a:prstGeom>
          <a:noFill/>
          <a:ln>
            <a:noFill/>
          </a:ln>
        </p:spPr>
        <p:txBody>
          <a:bodyPr spcFirstLastPara="1" wrap="square" lIns="91425" tIns="91425" rIns="91425" bIns="91425" anchor="ctr" anchorCtr="0">
            <a:noAutofit/>
          </a:bodyPr>
          <a:lstStyle/>
          <a:p>
            <a:pPr lvl="0"/>
            <a:r>
              <a:rPr lang="id-ID" sz="1400" dirty="0" err="1">
                <a:solidFill>
                  <a:schemeClr val="accent6"/>
                </a:solidFill>
              </a:rPr>
              <a:t>Passenger</a:t>
            </a:r>
            <a:r>
              <a:rPr lang="id-ID" sz="1400" dirty="0">
                <a:solidFill>
                  <a:schemeClr val="accent6"/>
                </a:solidFill>
              </a:rPr>
              <a:t> </a:t>
            </a:r>
            <a:r>
              <a:rPr lang="id-ID" sz="1400" dirty="0" err="1">
                <a:solidFill>
                  <a:schemeClr val="accent6"/>
                </a:solidFill>
              </a:rPr>
              <a:t>Demographics</a:t>
            </a:r>
            <a:endParaRPr sz="1400" dirty="0">
              <a:solidFill>
                <a:schemeClr val="accent6"/>
              </a:solidFill>
            </a:endParaRPr>
          </a:p>
        </p:txBody>
      </p:sp>
      <p:sp>
        <p:nvSpPr>
          <p:cNvPr id="63" name="Google Shape;63;p4"/>
          <p:cNvSpPr txBox="1">
            <a:spLocks noGrp="1"/>
          </p:cNvSpPr>
          <p:nvPr>
            <p:ph type="subTitle" idx="1"/>
          </p:nvPr>
        </p:nvSpPr>
        <p:spPr>
          <a:xfrm>
            <a:off x="265499" y="1144859"/>
            <a:ext cx="2938617" cy="3628765"/>
          </a:xfrm>
          <a:prstGeom prst="rect">
            <a:avLst/>
          </a:prstGeom>
          <a:noFill/>
          <a:ln>
            <a:noFill/>
          </a:ln>
        </p:spPr>
        <p:txBody>
          <a:bodyPr spcFirstLastPara="1" wrap="square" lIns="91425" tIns="91425" rIns="91425" bIns="91425" anchor="t" anchorCtr="0">
            <a:normAutofit/>
          </a:bodyPr>
          <a:lstStyle/>
          <a:p>
            <a:pPr marL="171450" lvl="0" indent="-171450" algn="l" rtl="0">
              <a:lnSpc>
                <a:spcPct val="100000"/>
              </a:lnSpc>
              <a:spcBef>
                <a:spcPts val="0"/>
              </a:spcBef>
              <a:spcAft>
                <a:spcPts val="0"/>
              </a:spcAft>
              <a:buSzPts val="1700"/>
              <a:buFont typeface="Arial" panose="020B0604020202020204" pitchFamily="34" charset="0"/>
              <a:buChar char="•"/>
            </a:pPr>
            <a:r>
              <a:rPr lang="en-US" sz="1600" dirty="0">
                <a:solidFill>
                  <a:schemeClr val="bg1"/>
                </a:solidFill>
                <a:latin typeface="Poppins" panose="00000500000000000000" pitchFamily="2" charset="0"/>
                <a:cs typeface="Poppins" panose="00000500000000000000" pitchFamily="2" charset="0"/>
              </a:rPr>
              <a:t>Passengers are dominated by </a:t>
            </a:r>
            <a:r>
              <a:rPr lang="en-US" sz="1600" dirty="0">
                <a:solidFill>
                  <a:schemeClr val="accent1">
                    <a:lumMod val="50000"/>
                  </a:schemeClr>
                </a:solidFill>
                <a:latin typeface="Poppins" panose="00000500000000000000" pitchFamily="2" charset="0"/>
                <a:cs typeface="Poppins" panose="00000500000000000000" pitchFamily="2" charset="0"/>
              </a:rPr>
              <a:t>Millennials</a:t>
            </a:r>
            <a:r>
              <a:rPr lang="en-US" sz="1600" dirty="0">
                <a:solidFill>
                  <a:schemeClr val="bg1"/>
                </a:solidFill>
                <a:latin typeface="Poppins" panose="00000500000000000000" pitchFamily="2" charset="0"/>
                <a:cs typeface="Poppins" panose="00000500000000000000" pitchFamily="2" charset="0"/>
              </a:rPr>
              <a:t> (49%), followed by Gen Z (32%). These groups are the working class requiring high mobility at affordable prices.</a:t>
            </a:r>
          </a:p>
          <a:p>
            <a:pPr marL="171450" lvl="0" indent="-171450" algn="l" rtl="0">
              <a:lnSpc>
                <a:spcPct val="100000"/>
              </a:lnSpc>
              <a:spcBef>
                <a:spcPts val="0"/>
              </a:spcBef>
              <a:spcAft>
                <a:spcPts val="0"/>
              </a:spcAft>
              <a:buSzPts val="1700"/>
              <a:buFont typeface="Arial" panose="020B0604020202020204" pitchFamily="34" charset="0"/>
              <a:buChar char="•"/>
            </a:pPr>
            <a:r>
              <a:rPr lang="en-US" sz="1600" dirty="0">
                <a:solidFill>
                  <a:schemeClr val="bg1"/>
                </a:solidFill>
                <a:latin typeface="Poppins" panose="00000500000000000000" pitchFamily="2" charset="0"/>
                <a:cs typeface="Poppins" panose="00000500000000000000" pitchFamily="2" charset="0"/>
              </a:rPr>
              <a:t>Interestingly, </a:t>
            </a:r>
            <a:r>
              <a:rPr lang="en-US" sz="1600" dirty="0" err="1">
                <a:solidFill>
                  <a:schemeClr val="bg1"/>
                </a:solidFill>
                <a:latin typeface="Poppins" panose="00000500000000000000" pitchFamily="2" charset="0"/>
                <a:cs typeface="Poppins" panose="00000500000000000000" pitchFamily="2" charset="0"/>
              </a:rPr>
              <a:t>Transjakarta</a:t>
            </a:r>
            <a:r>
              <a:rPr lang="en-US" sz="1600" dirty="0">
                <a:solidFill>
                  <a:schemeClr val="bg1"/>
                </a:solidFill>
                <a:latin typeface="Poppins" panose="00000500000000000000" pitchFamily="2" charset="0"/>
                <a:cs typeface="Poppins" panose="00000500000000000000" pitchFamily="2" charset="0"/>
              </a:rPr>
              <a:t> passengers are predominantly Female compared to Male.</a:t>
            </a:r>
          </a:p>
        </p:txBody>
      </p:sp>
      <p:pic>
        <p:nvPicPr>
          <p:cNvPr id="7" name="Picture 6" descr="A blue pie chart with white text&#10;&#10;AI-generated content may be incorrect.">
            <a:extLst>
              <a:ext uri="{FF2B5EF4-FFF2-40B4-BE49-F238E27FC236}">
                <a16:creationId xmlns:a16="http://schemas.microsoft.com/office/drawing/2014/main" id="{B5240F42-37B7-E0C9-4ABA-3B0F989128E6}"/>
              </a:ext>
            </a:extLst>
          </p:cNvPr>
          <p:cNvPicPr>
            <a:picLocks noChangeAspect="1"/>
          </p:cNvPicPr>
          <p:nvPr/>
        </p:nvPicPr>
        <p:blipFill>
          <a:blip r:embed="rId3"/>
          <a:stretch>
            <a:fillRect/>
          </a:stretch>
        </p:blipFill>
        <p:spPr>
          <a:xfrm>
            <a:off x="3627835" y="894787"/>
            <a:ext cx="2326920" cy="2110598"/>
          </a:xfrm>
          <a:prstGeom prst="rect">
            <a:avLst/>
          </a:prstGeom>
          <a:ln w="9525">
            <a:noFill/>
            <a:prstDash val="dash"/>
          </a:ln>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94B48A55-5E22-FA32-83A1-56E366CEF72F}"/>
              </a:ext>
            </a:extLst>
          </p:cNvPr>
          <p:cNvPicPr>
            <a:picLocks noChangeAspect="1"/>
          </p:cNvPicPr>
          <p:nvPr/>
        </p:nvPicPr>
        <p:blipFill>
          <a:blip r:embed="rId4"/>
          <a:stretch>
            <a:fillRect/>
          </a:stretch>
        </p:blipFill>
        <p:spPr>
          <a:xfrm>
            <a:off x="6130331" y="830903"/>
            <a:ext cx="2938617" cy="2174482"/>
          </a:xfrm>
          <a:prstGeom prst="rect">
            <a:avLst/>
          </a:prstGeom>
          <a:ln w="9525">
            <a:noFill/>
            <a:prstDash val="dash"/>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34246F1D-55E7-210C-CED1-2599FC541853}"/>
              </a:ext>
            </a:extLst>
          </p:cNvPr>
          <p:cNvSpPr txBox="1"/>
          <p:nvPr/>
        </p:nvSpPr>
        <p:spPr>
          <a:xfrm>
            <a:off x="3843430" y="3496351"/>
            <a:ext cx="5144429" cy="1277273"/>
          </a:xfrm>
          <a:prstGeom prst="rect">
            <a:avLst/>
          </a:prstGeom>
          <a:noFill/>
        </p:spPr>
        <p:txBody>
          <a:bodyPr wrap="square" rtlCol="0">
            <a:spAutoFit/>
          </a:bodyPr>
          <a:lstStyle/>
          <a:p>
            <a:pPr marL="285750" indent="-285750">
              <a:buFont typeface="Arial" panose="020B0604020202020204" pitchFamily="34" charset="0"/>
              <a:buChar char="•"/>
            </a:pPr>
            <a:r>
              <a:rPr lang="en-US" sz="1100" dirty="0">
                <a:latin typeface="Poppins" panose="00000500000000000000" pitchFamily="2" charset="0"/>
                <a:cs typeface="Poppins" panose="00000500000000000000" pitchFamily="2" charset="0"/>
              </a:rPr>
              <a:t>Since 80% of passengers are </a:t>
            </a:r>
            <a:r>
              <a:rPr lang="en-US" sz="1100" b="1" dirty="0">
                <a:latin typeface="Poppins" panose="00000500000000000000" pitchFamily="2" charset="0"/>
                <a:cs typeface="Poppins" panose="00000500000000000000" pitchFamily="2" charset="0"/>
              </a:rPr>
              <a:t>Digital Natives</a:t>
            </a:r>
            <a:r>
              <a:rPr lang="en-US" sz="1100" dirty="0">
                <a:latin typeface="Poppins" panose="00000500000000000000" pitchFamily="2" charset="0"/>
                <a:cs typeface="Poppins" panose="00000500000000000000" pitchFamily="2" charset="0"/>
              </a:rPr>
              <a:t>, communication strategies (complaints, route info) must be </a:t>
            </a:r>
            <a:r>
              <a:rPr lang="en-US" sz="1100" b="1" dirty="0">
                <a:latin typeface="Poppins" panose="00000500000000000000" pitchFamily="2" charset="0"/>
                <a:cs typeface="Poppins" panose="00000500000000000000" pitchFamily="2" charset="0"/>
              </a:rPr>
              <a:t>digital-first</a:t>
            </a:r>
            <a:r>
              <a:rPr lang="en-US" sz="1100" dirty="0">
                <a:latin typeface="Poppins" panose="00000500000000000000" pitchFamily="2" charset="0"/>
                <a:cs typeface="Poppins" panose="00000500000000000000" pitchFamily="2" charset="0"/>
              </a:rPr>
              <a:t> (App/Social Media). Do not spend budget on printed brochures.</a:t>
            </a:r>
          </a:p>
          <a:p>
            <a:pPr marL="285750" indent="-285750">
              <a:buFont typeface="Arial" panose="020B0604020202020204" pitchFamily="34" charset="0"/>
              <a:buChar char="•"/>
            </a:pPr>
            <a:r>
              <a:rPr lang="en-US" sz="1100" dirty="0">
                <a:latin typeface="Poppins" panose="00000500000000000000" pitchFamily="2" charset="0"/>
                <a:cs typeface="Poppins" panose="00000500000000000000" pitchFamily="2" charset="0"/>
              </a:rPr>
              <a:t>Since the majority are women, </a:t>
            </a:r>
            <a:r>
              <a:rPr lang="en-US" sz="1100" b="1" dirty="0">
                <a:latin typeface="Poppins" panose="00000500000000000000" pitchFamily="2" charset="0"/>
                <a:cs typeface="Poppins" panose="00000500000000000000" pitchFamily="2" charset="0"/>
              </a:rPr>
              <a:t>"Anti-Sexual Harassment"</a:t>
            </a:r>
            <a:r>
              <a:rPr lang="en-US" sz="1100" dirty="0">
                <a:latin typeface="Poppins" panose="00000500000000000000" pitchFamily="2" charset="0"/>
                <a:cs typeface="Poppins" panose="00000500000000000000" pitchFamily="2" charset="0"/>
              </a:rPr>
              <a:t> programs and CCTV/Officers on buses are key to customer retention. If women feel unsafe, </a:t>
            </a:r>
            <a:r>
              <a:rPr lang="en-US" sz="1100" dirty="0" err="1">
                <a:latin typeface="Poppins" panose="00000500000000000000" pitchFamily="2" charset="0"/>
                <a:cs typeface="Poppins" panose="00000500000000000000" pitchFamily="2" charset="0"/>
              </a:rPr>
              <a:t>Transjakarta</a:t>
            </a:r>
            <a:r>
              <a:rPr lang="en-US" sz="1100" dirty="0">
                <a:latin typeface="Poppins" panose="00000500000000000000" pitchFamily="2" charset="0"/>
                <a:cs typeface="Poppins" panose="00000500000000000000" pitchFamily="2" charset="0"/>
              </a:rPr>
              <a:t> risks losing its largest customer base.</a:t>
            </a:r>
            <a:endParaRPr lang="id-ID" sz="1100" dirty="0">
              <a:latin typeface="Poppins" panose="00000500000000000000" pitchFamily="2" charset="0"/>
              <a:cs typeface="Poppins" panose="00000500000000000000" pitchFamily="2" charset="0"/>
            </a:endParaRPr>
          </a:p>
        </p:txBody>
      </p:sp>
      <p:sp>
        <p:nvSpPr>
          <p:cNvPr id="13" name="Title 1">
            <a:extLst>
              <a:ext uri="{FF2B5EF4-FFF2-40B4-BE49-F238E27FC236}">
                <a16:creationId xmlns:a16="http://schemas.microsoft.com/office/drawing/2014/main" id="{B9FBEAB1-DC64-F7C1-B81F-2A040468FAB4}"/>
              </a:ext>
            </a:extLst>
          </p:cNvPr>
          <p:cNvSpPr txBox="1">
            <a:spLocks/>
          </p:cNvSpPr>
          <p:nvPr/>
        </p:nvSpPr>
        <p:spPr>
          <a:xfrm>
            <a:off x="4001135" y="3005385"/>
            <a:ext cx="2638500" cy="58016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Poppins"/>
              <a:buNone/>
              <a:defRPr sz="33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r>
              <a:rPr lang="en-US" sz="1600" dirty="0">
                <a:solidFill>
                  <a:srgbClr val="52AA60"/>
                </a:solidFill>
              </a:rPr>
              <a:t>Insight:</a:t>
            </a:r>
            <a:endParaRPr lang="id-ID" sz="1600" dirty="0">
              <a:solidFill>
                <a:srgbClr val="52AA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7F78-ABB8-0959-7F34-EDB0AC905F9E}"/>
              </a:ext>
            </a:extLst>
          </p:cNvPr>
          <p:cNvSpPr>
            <a:spLocks noGrp="1"/>
          </p:cNvSpPr>
          <p:nvPr>
            <p:ph type="title"/>
          </p:nvPr>
        </p:nvSpPr>
        <p:spPr>
          <a:xfrm>
            <a:off x="265500" y="490350"/>
            <a:ext cx="2638500" cy="580167"/>
          </a:xfrm>
        </p:spPr>
        <p:txBody>
          <a:bodyPr>
            <a:noAutofit/>
          </a:bodyPr>
          <a:lstStyle/>
          <a:p>
            <a:r>
              <a:rPr lang="en-US" sz="1600" dirty="0">
                <a:solidFill>
                  <a:srgbClr val="C4F63B"/>
                </a:solidFill>
              </a:rPr>
              <a:t>Revenue by Payment Method</a:t>
            </a:r>
            <a:endParaRPr lang="id-ID" sz="1600" dirty="0">
              <a:solidFill>
                <a:srgbClr val="C4F63B"/>
              </a:solidFill>
            </a:endParaRPr>
          </a:p>
        </p:txBody>
      </p:sp>
      <p:sp>
        <p:nvSpPr>
          <p:cNvPr id="3" name="Subtitle 2">
            <a:extLst>
              <a:ext uri="{FF2B5EF4-FFF2-40B4-BE49-F238E27FC236}">
                <a16:creationId xmlns:a16="http://schemas.microsoft.com/office/drawing/2014/main" id="{022770D7-3DF5-FB73-1E3D-AAA4D053D6DB}"/>
              </a:ext>
            </a:extLst>
          </p:cNvPr>
          <p:cNvSpPr>
            <a:spLocks noGrp="1"/>
          </p:cNvSpPr>
          <p:nvPr>
            <p:ph type="subTitle" idx="1"/>
          </p:nvPr>
        </p:nvSpPr>
        <p:spPr>
          <a:xfrm>
            <a:off x="81776" y="1070517"/>
            <a:ext cx="3137210" cy="3836664"/>
          </a:xfrm>
        </p:spPr>
        <p:txBody>
          <a:bodyPr>
            <a:normAutofit/>
          </a:bodyPr>
          <a:lstStyle/>
          <a:p>
            <a:pPr>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Almost 50% of passengers use the </a:t>
            </a:r>
            <a:r>
              <a:rPr lang="en-US" sz="1200" b="1" dirty="0">
                <a:solidFill>
                  <a:schemeClr val="bg1"/>
                </a:solidFill>
                <a:latin typeface="Poppins" panose="00000500000000000000" pitchFamily="2" charset="0"/>
                <a:cs typeface="Poppins" panose="00000500000000000000" pitchFamily="2" charset="0"/>
              </a:rPr>
              <a:t>Bank DKI (</a:t>
            </a:r>
            <a:r>
              <a:rPr lang="en-US" sz="1200" b="1" dirty="0" err="1">
                <a:solidFill>
                  <a:schemeClr val="bg1"/>
                </a:solidFill>
                <a:latin typeface="Poppins" panose="00000500000000000000" pitchFamily="2" charset="0"/>
                <a:cs typeface="Poppins" panose="00000500000000000000" pitchFamily="2" charset="0"/>
              </a:rPr>
              <a:t>JakCard</a:t>
            </a:r>
            <a:r>
              <a:rPr lang="en-US" sz="1200" b="1" dirty="0">
                <a:solidFill>
                  <a:schemeClr val="bg1"/>
                </a:solidFill>
                <a:latin typeface="Poppins" panose="00000500000000000000" pitchFamily="2" charset="0"/>
                <a:cs typeface="Poppins" panose="00000500000000000000" pitchFamily="2" charset="0"/>
              </a:rPr>
              <a:t>) </a:t>
            </a:r>
            <a:r>
              <a:rPr lang="en-US" sz="1200" dirty="0">
                <a:solidFill>
                  <a:schemeClr val="bg1"/>
                </a:solidFill>
                <a:latin typeface="Poppins" panose="00000500000000000000" pitchFamily="2" charset="0"/>
                <a:cs typeface="Poppins" panose="00000500000000000000" pitchFamily="2" charset="0"/>
              </a:rPr>
              <a:t>ecosystem. This correlates strongly with Subsidy Recipients &amp; Government Programs (Elderly, Students, Civil Servants).</a:t>
            </a:r>
          </a:p>
          <a:p>
            <a:pPr>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If combined, commercial banks (</a:t>
            </a:r>
            <a:r>
              <a:rPr lang="en-US" sz="1200" b="1" dirty="0" err="1">
                <a:solidFill>
                  <a:schemeClr val="bg1"/>
                </a:solidFill>
                <a:latin typeface="Poppins" panose="00000500000000000000" pitchFamily="2" charset="0"/>
                <a:cs typeface="Poppins" panose="00000500000000000000" pitchFamily="2" charset="0"/>
              </a:rPr>
              <a:t>Mandiri</a:t>
            </a:r>
            <a:r>
              <a:rPr lang="en-US" sz="1200" b="1" dirty="0">
                <a:solidFill>
                  <a:schemeClr val="bg1"/>
                </a:solidFill>
                <a:latin typeface="Poppins" panose="00000500000000000000" pitchFamily="2" charset="0"/>
                <a:cs typeface="Poppins" panose="00000500000000000000" pitchFamily="2" charset="0"/>
              </a:rPr>
              <a:t>, BRI, BCA, BNI</a:t>
            </a:r>
            <a:r>
              <a:rPr lang="en-US" sz="1200" dirty="0">
                <a:solidFill>
                  <a:schemeClr val="bg1"/>
                </a:solidFill>
                <a:latin typeface="Poppins" panose="00000500000000000000" pitchFamily="2" charset="0"/>
                <a:cs typeface="Poppins" panose="00000500000000000000" pitchFamily="2" charset="0"/>
              </a:rPr>
              <a:t>) control about </a:t>
            </a:r>
            <a:r>
              <a:rPr lang="en-US" sz="1200" b="1" dirty="0">
                <a:solidFill>
                  <a:schemeClr val="bg1"/>
                </a:solidFill>
                <a:latin typeface="Poppins" panose="00000500000000000000" pitchFamily="2" charset="0"/>
                <a:cs typeface="Poppins" panose="00000500000000000000" pitchFamily="2" charset="0"/>
              </a:rPr>
              <a:t>43% </a:t>
            </a:r>
            <a:r>
              <a:rPr lang="en-US" sz="1200" dirty="0">
                <a:solidFill>
                  <a:schemeClr val="bg1"/>
                </a:solidFill>
                <a:latin typeface="Poppins" panose="00000500000000000000" pitchFamily="2" charset="0"/>
                <a:cs typeface="Poppins" panose="00000500000000000000" pitchFamily="2" charset="0"/>
              </a:rPr>
              <a:t>of the share</a:t>
            </a:r>
          </a:p>
          <a:p>
            <a:pPr>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Interestingly, the adoption of digital systems is growing but not yet dominant. This indicates that passengers are still more comfortable with 'Physical Card Tapping,' which is perceived as faster than having to access their phones first.</a:t>
            </a:r>
          </a:p>
        </p:txBody>
      </p:sp>
      <p:pic>
        <p:nvPicPr>
          <p:cNvPr id="9" name="Picture 8">
            <a:extLst>
              <a:ext uri="{FF2B5EF4-FFF2-40B4-BE49-F238E27FC236}">
                <a16:creationId xmlns:a16="http://schemas.microsoft.com/office/drawing/2014/main" id="{3FF628F1-047A-0C5F-6DA8-D29ABC5B408C}"/>
              </a:ext>
            </a:extLst>
          </p:cNvPr>
          <p:cNvPicPr>
            <a:picLocks noChangeAspect="1"/>
          </p:cNvPicPr>
          <p:nvPr/>
        </p:nvPicPr>
        <p:blipFill>
          <a:blip r:embed="rId2"/>
          <a:stretch>
            <a:fillRect/>
          </a:stretch>
        </p:blipFill>
        <p:spPr>
          <a:xfrm>
            <a:off x="4470139" y="349009"/>
            <a:ext cx="3377477" cy="2676376"/>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9036F7AA-3BFE-00DC-E70C-2FE6768488FB}"/>
              </a:ext>
            </a:extLst>
          </p:cNvPr>
          <p:cNvSpPr txBox="1"/>
          <p:nvPr/>
        </p:nvSpPr>
        <p:spPr>
          <a:xfrm>
            <a:off x="3791415" y="3516351"/>
            <a:ext cx="4734926" cy="1200329"/>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To increase Revenue (not just passenger count), marketing focus must be directed at the </a:t>
            </a:r>
            <a:r>
              <a:rPr lang="en-US" sz="1200" b="1" dirty="0">
                <a:latin typeface="Poppins" panose="00000500000000000000" pitchFamily="2" charset="0"/>
                <a:cs typeface="Poppins" panose="00000500000000000000" pitchFamily="2" charset="0"/>
              </a:rPr>
              <a:t>43% commercial bank users</a:t>
            </a:r>
            <a:r>
              <a:rPr lang="en-US" sz="1200" dirty="0">
                <a:latin typeface="Poppins" panose="00000500000000000000" pitchFamily="2" charset="0"/>
                <a:cs typeface="Poppins" panose="00000500000000000000" pitchFamily="2" charset="0"/>
              </a:rPr>
              <a:t>.</a:t>
            </a:r>
          </a:p>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There is huge untapped potential in </a:t>
            </a:r>
            <a:r>
              <a:rPr lang="en-US" sz="1200" b="1" dirty="0">
                <a:latin typeface="Poppins" panose="00000500000000000000" pitchFamily="2" charset="0"/>
                <a:cs typeface="Poppins" panose="00000500000000000000" pitchFamily="2" charset="0"/>
              </a:rPr>
              <a:t>Bank BCA</a:t>
            </a:r>
            <a:r>
              <a:rPr lang="en-US" sz="1200" dirty="0">
                <a:latin typeface="Poppins" panose="00000500000000000000" pitchFamily="2" charset="0"/>
                <a:cs typeface="Poppins" panose="00000500000000000000" pitchFamily="2" charset="0"/>
              </a:rPr>
              <a:t>, the largest retail transactional bank in Jakarta, to convert its users to bus riders.</a:t>
            </a:r>
            <a:endParaRPr lang="id-ID" sz="1200" dirty="0">
              <a:latin typeface="Poppins" panose="00000500000000000000" pitchFamily="2" charset="0"/>
              <a:cs typeface="Poppins" panose="00000500000000000000" pitchFamily="2" charset="0"/>
            </a:endParaRPr>
          </a:p>
        </p:txBody>
      </p:sp>
      <p:sp>
        <p:nvSpPr>
          <p:cNvPr id="11" name="Title 1">
            <a:extLst>
              <a:ext uri="{FF2B5EF4-FFF2-40B4-BE49-F238E27FC236}">
                <a16:creationId xmlns:a16="http://schemas.microsoft.com/office/drawing/2014/main" id="{F5AB6E96-EC77-11F6-8F48-4FA274877AD9}"/>
              </a:ext>
            </a:extLst>
          </p:cNvPr>
          <p:cNvSpPr txBox="1">
            <a:spLocks/>
          </p:cNvSpPr>
          <p:nvPr/>
        </p:nvSpPr>
        <p:spPr>
          <a:xfrm>
            <a:off x="3949119" y="3025385"/>
            <a:ext cx="2638500" cy="58016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Poppins"/>
              <a:buNone/>
              <a:defRPr sz="33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r>
              <a:rPr lang="en-US" sz="1600" dirty="0">
                <a:solidFill>
                  <a:srgbClr val="52AA60"/>
                </a:solidFill>
              </a:rPr>
              <a:t>Insight:</a:t>
            </a:r>
            <a:endParaRPr lang="id-ID" sz="1600" dirty="0">
              <a:solidFill>
                <a:srgbClr val="52AA60"/>
              </a:solidFill>
            </a:endParaRPr>
          </a:p>
        </p:txBody>
      </p:sp>
    </p:spTree>
    <p:extLst>
      <p:ext uri="{BB962C8B-B14F-4D97-AF65-F5344CB8AC3E}">
        <p14:creationId xmlns:p14="http://schemas.microsoft.com/office/powerpoint/2010/main" val="1134754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F663653-665C-C8FF-7B1B-F727ADAE0364}"/>
              </a:ext>
            </a:extLst>
          </p:cNvPr>
          <p:cNvSpPr>
            <a:spLocks noGrp="1"/>
          </p:cNvSpPr>
          <p:nvPr>
            <p:ph type="title"/>
          </p:nvPr>
        </p:nvSpPr>
        <p:spPr>
          <a:xfrm>
            <a:off x="280368" y="480885"/>
            <a:ext cx="2638500" cy="580167"/>
          </a:xfrm>
        </p:spPr>
        <p:txBody>
          <a:bodyPr>
            <a:noAutofit/>
          </a:bodyPr>
          <a:lstStyle/>
          <a:p>
            <a:r>
              <a:rPr lang="en-US" sz="1600" dirty="0">
                <a:solidFill>
                  <a:srgbClr val="C4F63B"/>
                </a:solidFill>
              </a:rPr>
              <a:t>The Golden 5 Hours</a:t>
            </a:r>
            <a:endParaRPr lang="id-ID" sz="1600" dirty="0">
              <a:solidFill>
                <a:srgbClr val="C4F63B"/>
              </a:solidFill>
            </a:endParaRPr>
          </a:p>
        </p:txBody>
      </p:sp>
      <p:sp>
        <p:nvSpPr>
          <p:cNvPr id="7" name="Subtitle 2">
            <a:extLst>
              <a:ext uri="{FF2B5EF4-FFF2-40B4-BE49-F238E27FC236}">
                <a16:creationId xmlns:a16="http://schemas.microsoft.com/office/drawing/2014/main" id="{2440ADEB-5736-726D-97A1-71D73459DE07}"/>
              </a:ext>
            </a:extLst>
          </p:cNvPr>
          <p:cNvSpPr>
            <a:spLocks noGrp="1"/>
          </p:cNvSpPr>
          <p:nvPr>
            <p:ph type="subTitle" idx="1"/>
          </p:nvPr>
        </p:nvSpPr>
        <p:spPr>
          <a:xfrm>
            <a:off x="111512" y="951571"/>
            <a:ext cx="3137210" cy="4081346"/>
          </a:xfrm>
        </p:spPr>
        <p:txBody>
          <a:bodyPr>
            <a:normAutofit/>
          </a:bodyPr>
          <a:lstStyle/>
          <a:p>
            <a:pPr>
              <a:buFont typeface="Arial" panose="020B0604020202020204" pitchFamily="34" charset="0"/>
              <a:buChar char="•"/>
            </a:pPr>
            <a:r>
              <a:rPr lang="en-US" sz="1400" dirty="0">
                <a:solidFill>
                  <a:schemeClr val="bg1"/>
                </a:solidFill>
                <a:latin typeface="Poppins" panose="00000500000000000000" pitchFamily="2" charset="0"/>
                <a:cs typeface="Poppins" panose="00000500000000000000" pitchFamily="2" charset="0"/>
              </a:rPr>
              <a:t>In just </a:t>
            </a:r>
            <a:r>
              <a:rPr lang="en-US" sz="1400" b="1" dirty="0">
                <a:solidFill>
                  <a:schemeClr val="bg1"/>
                </a:solidFill>
                <a:latin typeface="Poppins" panose="00000500000000000000" pitchFamily="2" charset="0"/>
                <a:cs typeface="Poppins" panose="00000500000000000000" pitchFamily="2" charset="0"/>
              </a:rPr>
              <a:t>5 Operational Hours</a:t>
            </a:r>
            <a:r>
              <a:rPr lang="en-US" sz="1400" dirty="0">
                <a:solidFill>
                  <a:schemeClr val="bg1"/>
                </a:solidFill>
                <a:latin typeface="Poppins" panose="00000500000000000000" pitchFamily="2" charset="0"/>
                <a:cs typeface="Poppins" panose="00000500000000000000" pitchFamily="2" charset="0"/>
              </a:rPr>
              <a:t> (05:00-09:00 &amp; 17:00), </a:t>
            </a:r>
            <a:r>
              <a:rPr lang="en-US" sz="1400" dirty="0" err="1">
                <a:solidFill>
                  <a:schemeClr val="bg1"/>
                </a:solidFill>
                <a:latin typeface="Poppins" panose="00000500000000000000" pitchFamily="2" charset="0"/>
                <a:cs typeface="Poppins" panose="00000500000000000000" pitchFamily="2" charset="0"/>
              </a:rPr>
              <a:t>Transjakarta</a:t>
            </a:r>
            <a:r>
              <a:rPr lang="en-US" sz="1400" dirty="0">
                <a:solidFill>
                  <a:schemeClr val="bg1"/>
                </a:solidFill>
                <a:latin typeface="Poppins" panose="00000500000000000000" pitchFamily="2" charset="0"/>
                <a:cs typeface="Poppins" panose="00000500000000000000" pitchFamily="2" charset="0"/>
              </a:rPr>
              <a:t> secures more than </a:t>
            </a:r>
            <a:r>
              <a:rPr lang="en-US" sz="1400" b="1" dirty="0">
                <a:solidFill>
                  <a:schemeClr val="bg1"/>
                </a:solidFill>
                <a:latin typeface="Poppins" panose="00000500000000000000" pitchFamily="2" charset="0"/>
                <a:cs typeface="Poppins" panose="00000500000000000000" pitchFamily="2" charset="0"/>
              </a:rPr>
              <a:t>50% of Daily Revenue</a:t>
            </a:r>
            <a:r>
              <a:rPr lang="en-US" sz="1400" dirty="0">
                <a:solidFill>
                  <a:schemeClr val="bg1"/>
                </a:solidFill>
                <a:latin typeface="Poppins" panose="00000500000000000000" pitchFamily="2" charset="0"/>
                <a:cs typeface="Poppins" panose="00000500000000000000" pitchFamily="2" charset="0"/>
              </a:rPr>
              <a:t>.</a:t>
            </a:r>
          </a:p>
          <a:p>
            <a:pPr>
              <a:buFont typeface="Arial" panose="020B0604020202020204" pitchFamily="34" charset="0"/>
              <a:buChar char="•"/>
            </a:pPr>
            <a:r>
              <a:rPr lang="en-US" sz="1400" dirty="0">
                <a:solidFill>
                  <a:schemeClr val="bg1"/>
                </a:solidFill>
                <a:latin typeface="Poppins" panose="00000500000000000000" pitchFamily="2" charset="0"/>
                <a:cs typeface="Poppins" panose="00000500000000000000" pitchFamily="2" charset="0"/>
              </a:rPr>
              <a:t>06:00 AM and 05:00 PM are the peak times, contributing nearly 30% of total revenue. Surprisingly, </a:t>
            </a:r>
            <a:r>
              <a:rPr lang="en-US" sz="1400" b="1" dirty="0">
                <a:solidFill>
                  <a:schemeClr val="bg1"/>
                </a:solidFill>
                <a:latin typeface="Poppins" panose="00000500000000000000" pitchFamily="2" charset="0"/>
                <a:cs typeface="Poppins" panose="00000500000000000000" pitchFamily="2" charset="0"/>
              </a:rPr>
              <a:t>05:00 AM</a:t>
            </a:r>
            <a:r>
              <a:rPr lang="en-US" sz="1400" dirty="0">
                <a:solidFill>
                  <a:schemeClr val="bg1"/>
                </a:solidFill>
                <a:latin typeface="Poppins" panose="00000500000000000000" pitchFamily="2" charset="0"/>
                <a:cs typeface="Poppins" panose="00000500000000000000" pitchFamily="2" charset="0"/>
              </a:rPr>
              <a:t> generates more revenue than 07:00 AM.</a:t>
            </a:r>
            <a:endParaRPr lang="id-ID" sz="1400" dirty="0">
              <a:solidFill>
                <a:schemeClr val="bg1"/>
              </a:solidFill>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2D344470-DB0F-DEA3-260D-E83CECF46E5D}"/>
              </a:ext>
            </a:extLst>
          </p:cNvPr>
          <p:cNvSpPr txBox="1"/>
          <p:nvPr/>
        </p:nvSpPr>
        <p:spPr>
          <a:xfrm>
            <a:off x="3791415" y="3516351"/>
            <a:ext cx="4734926" cy="1015663"/>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Deploy premium fleets at </a:t>
            </a:r>
            <a:r>
              <a:rPr lang="en-US" sz="1200" b="1" dirty="0">
                <a:latin typeface="Poppins" panose="00000500000000000000" pitchFamily="2" charset="0"/>
                <a:cs typeface="Poppins" panose="00000500000000000000" pitchFamily="2" charset="0"/>
              </a:rPr>
              <a:t>05:00-06:00 AM</a:t>
            </a:r>
            <a:r>
              <a:rPr lang="en-US" sz="1200" dirty="0">
                <a:latin typeface="Poppins" panose="00000500000000000000" pitchFamily="2" charset="0"/>
                <a:cs typeface="Poppins" panose="00000500000000000000" pitchFamily="2" charset="0"/>
              </a:rPr>
              <a:t> due to its high revenue contribution.</a:t>
            </a:r>
          </a:p>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Reduce frequency (loosen headway) during </a:t>
            </a:r>
            <a:r>
              <a:rPr lang="en-US" sz="1200" b="1" dirty="0">
                <a:latin typeface="Poppins" panose="00000500000000000000" pitchFamily="2" charset="0"/>
                <a:cs typeface="Poppins" panose="00000500000000000000" pitchFamily="2" charset="0"/>
              </a:rPr>
              <a:t>10:00 - 14:00</a:t>
            </a:r>
            <a:r>
              <a:rPr lang="en-US" sz="1200" dirty="0">
                <a:latin typeface="Poppins" panose="00000500000000000000" pitchFamily="2" charset="0"/>
                <a:cs typeface="Poppins" panose="00000500000000000000" pitchFamily="2" charset="0"/>
              </a:rPr>
              <a:t> to save fuel and costs, as the impact on lost revenue is minimal.</a:t>
            </a:r>
            <a:endParaRPr lang="id-ID" sz="1200" dirty="0">
              <a:latin typeface="Poppins" panose="00000500000000000000" pitchFamily="2" charset="0"/>
              <a:cs typeface="Poppins" panose="00000500000000000000" pitchFamily="2" charset="0"/>
            </a:endParaRPr>
          </a:p>
        </p:txBody>
      </p:sp>
      <p:grpSp>
        <p:nvGrpSpPr>
          <p:cNvPr id="12" name="Group 11">
            <a:extLst>
              <a:ext uri="{FF2B5EF4-FFF2-40B4-BE49-F238E27FC236}">
                <a16:creationId xmlns:a16="http://schemas.microsoft.com/office/drawing/2014/main" id="{56EFBE39-AF7F-1ACB-3D3B-8E8A691EFAF6}"/>
              </a:ext>
            </a:extLst>
          </p:cNvPr>
          <p:cNvGrpSpPr/>
          <p:nvPr/>
        </p:nvGrpSpPr>
        <p:grpSpPr>
          <a:xfrm>
            <a:off x="4081972" y="480885"/>
            <a:ext cx="4444369" cy="2633700"/>
            <a:chOff x="4081972" y="480885"/>
            <a:chExt cx="4444369" cy="2633700"/>
          </a:xfrm>
        </p:grpSpPr>
        <p:pic>
          <p:nvPicPr>
            <p:cNvPr id="5" name="Picture 4">
              <a:extLst>
                <a:ext uri="{FF2B5EF4-FFF2-40B4-BE49-F238E27FC236}">
                  <a16:creationId xmlns:a16="http://schemas.microsoft.com/office/drawing/2014/main" id="{2B958AFB-8B12-7E6D-1928-2A2187FA87DA}"/>
                </a:ext>
              </a:extLst>
            </p:cNvPr>
            <p:cNvPicPr>
              <a:picLocks noChangeAspect="1"/>
            </p:cNvPicPr>
            <p:nvPr/>
          </p:nvPicPr>
          <p:blipFill>
            <a:blip r:embed="rId2"/>
            <a:stretch>
              <a:fillRect/>
            </a:stretch>
          </p:blipFill>
          <p:spPr>
            <a:xfrm>
              <a:off x="4081972" y="480885"/>
              <a:ext cx="4444369" cy="2633700"/>
            </a:xfrm>
            <a:prstGeom prst="rect">
              <a:avLst/>
            </a:prstGeom>
            <a:effectLst>
              <a:outerShdw blurRad="50800" dist="38100" dir="2700000" algn="tl" rotWithShape="0">
                <a:prstClr val="black">
                  <a:alpha val="40000"/>
                </a:prstClr>
              </a:outerShdw>
            </a:effectLst>
          </p:spPr>
        </p:pic>
        <p:sp>
          <p:nvSpPr>
            <p:cNvPr id="10" name="Rectangle: Rounded Corners 9">
              <a:extLst>
                <a:ext uri="{FF2B5EF4-FFF2-40B4-BE49-F238E27FC236}">
                  <a16:creationId xmlns:a16="http://schemas.microsoft.com/office/drawing/2014/main" id="{079B284F-04F9-1218-8A8F-C5C78BC2DA2B}"/>
                </a:ext>
              </a:extLst>
            </p:cNvPr>
            <p:cNvSpPr/>
            <p:nvPr/>
          </p:nvSpPr>
          <p:spPr>
            <a:xfrm>
              <a:off x="5464098" y="1797735"/>
              <a:ext cx="275063" cy="1042109"/>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11" name="Title 1">
            <a:extLst>
              <a:ext uri="{FF2B5EF4-FFF2-40B4-BE49-F238E27FC236}">
                <a16:creationId xmlns:a16="http://schemas.microsoft.com/office/drawing/2014/main" id="{4E832496-D602-FBA2-97AB-8320CCB03ABE}"/>
              </a:ext>
            </a:extLst>
          </p:cNvPr>
          <p:cNvSpPr txBox="1">
            <a:spLocks/>
          </p:cNvSpPr>
          <p:nvPr/>
        </p:nvSpPr>
        <p:spPr>
          <a:xfrm>
            <a:off x="3949119" y="3025385"/>
            <a:ext cx="2638500" cy="58016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Poppins"/>
              <a:buNone/>
              <a:defRPr sz="33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r>
              <a:rPr lang="en-US" sz="1600" dirty="0">
                <a:solidFill>
                  <a:srgbClr val="52AA60"/>
                </a:solidFill>
              </a:rPr>
              <a:t>Insight:</a:t>
            </a:r>
            <a:endParaRPr lang="id-ID" sz="1600" dirty="0">
              <a:solidFill>
                <a:srgbClr val="52AA60"/>
              </a:solidFill>
            </a:endParaRPr>
          </a:p>
        </p:txBody>
      </p:sp>
    </p:spTree>
    <p:extLst>
      <p:ext uri="{BB962C8B-B14F-4D97-AF65-F5344CB8AC3E}">
        <p14:creationId xmlns:p14="http://schemas.microsoft.com/office/powerpoint/2010/main" val="4023315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C4D66-987B-8C73-CE7E-658BED4E9A3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93D3320-C775-3B12-1869-4CA106A68B08}"/>
              </a:ext>
            </a:extLst>
          </p:cNvPr>
          <p:cNvSpPr>
            <a:spLocks noGrp="1"/>
          </p:cNvSpPr>
          <p:nvPr>
            <p:ph type="title"/>
          </p:nvPr>
        </p:nvSpPr>
        <p:spPr>
          <a:xfrm>
            <a:off x="280368" y="480885"/>
            <a:ext cx="2638500" cy="580167"/>
          </a:xfrm>
        </p:spPr>
        <p:txBody>
          <a:bodyPr>
            <a:noAutofit/>
          </a:bodyPr>
          <a:lstStyle/>
          <a:p>
            <a:r>
              <a:rPr lang="en-US" sz="1600" dirty="0">
                <a:solidFill>
                  <a:srgbClr val="C4F63B"/>
                </a:solidFill>
              </a:rPr>
              <a:t>Peak Hour</a:t>
            </a:r>
            <a:endParaRPr lang="id-ID" sz="1600" dirty="0">
              <a:solidFill>
                <a:srgbClr val="C4F63B"/>
              </a:solidFill>
            </a:endParaRPr>
          </a:p>
        </p:txBody>
      </p:sp>
      <p:sp>
        <p:nvSpPr>
          <p:cNvPr id="7" name="Subtitle 2">
            <a:extLst>
              <a:ext uri="{FF2B5EF4-FFF2-40B4-BE49-F238E27FC236}">
                <a16:creationId xmlns:a16="http://schemas.microsoft.com/office/drawing/2014/main" id="{03EA645F-105B-5077-71C2-48AFF3B906C8}"/>
              </a:ext>
            </a:extLst>
          </p:cNvPr>
          <p:cNvSpPr>
            <a:spLocks noGrp="1"/>
          </p:cNvSpPr>
          <p:nvPr>
            <p:ph type="subTitle" idx="1"/>
          </p:nvPr>
        </p:nvSpPr>
        <p:spPr>
          <a:xfrm>
            <a:off x="111512" y="951571"/>
            <a:ext cx="3137210" cy="4081346"/>
          </a:xfrm>
        </p:spPr>
        <p:txBody>
          <a:bodyPr>
            <a:normAutofit/>
          </a:bodyPr>
          <a:lstStyle/>
          <a:p>
            <a:pPr>
              <a:buFont typeface="Arial" panose="020B0604020202020204" pitchFamily="34" charset="0"/>
              <a:buChar char="•"/>
            </a:pPr>
            <a:r>
              <a:rPr lang="en-US" sz="1200" dirty="0" err="1">
                <a:solidFill>
                  <a:schemeClr val="bg1"/>
                </a:solidFill>
              </a:rPr>
              <a:t>Transjakarta</a:t>
            </a:r>
            <a:r>
              <a:rPr lang="en-US" sz="1200" dirty="0">
                <a:solidFill>
                  <a:schemeClr val="bg1"/>
                </a:solidFill>
              </a:rPr>
              <a:t> passengers are primarily </a:t>
            </a:r>
            <a:r>
              <a:rPr lang="en-US" sz="1200" b="1" dirty="0">
                <a:solidFill>
                  <a:schemeClr val="bg1"/>
                </a:solidFill>
              </a:rPr>
              <a:t>"Long-Distance Commuters."</a:t>
            </a:r>
            <a:r>
              <a:rPr lang="en-US" sz="1200" dirty="0">
                <a:solidFill>
                  <a:schemeClr val="bg1"/>
                </a:solidFill>
              </a:rPr>
              <a:t> They must depart very early (5-6 AM) from satellite cities (Bekasi, Depok, Tangerang) to reach Jakarta's central offices by 8 AM. Passengers traveling between 7-8 AM represent the "second wave" who live closer to the city center.</a:t>
            </a:r>
          </a:p>
          <a:p>
            <a:pPr>
              <a:buFont typeface="Arial" panose="020B0604020202020204" pitchFamily="34" charset="0"/>
              <a:buChar char="•"/>
            </a:pPr>
            <a:r>
              <a:rPr lang="en-US" sz="1200" dirty="0">
                <a:solidFill>
                  <a:schemeClr val="bg1"/>
                </a:solidFill>
              </a:rPr>
              <a:t>A rapid surge occurs starting from </a:t>
            </a:r>
            <a:r>
              <a:rPr lang="en-US" sz="1200" b="1" dirty="0">
                <a:solidFill>
                  <a:schemeClr val="bg1"/>
                </a:solidFill>
              </a:rPr>
              <a:t>15:00 (385 passengers)</a:t>
            </a:r>
            <a:r>
              <a:rPr lang="en-US" sz="1200" dirty="0">
                <a:solidFill>
                  <a:schemeClr val="bg1"/>
                </a:solidFill>
              </a:rPr>
              <a:t>, exploding to a peak at </a:t>
            </a:r>
            <a:r>
              <a:rPr lang="en-US" sz="1200" b="1" dirty="0">
                <a:solidFill>
                  <a:schemeClr val="bg1"/>
                </a:solidFill>
              </a:rPr>
              <a:t>17:00 (5,242 passengers)</a:t>
            </a:r>
            <a:r>
              <a:rPr lang="en-US" sz="1200" dirty="0">
                <a:solidFill>
                  <a:schemeClr val="bg1"/>
                </a:solidFill>
              </a:rPr>
              <a:t>.</a:t>
            </a:r>
          </a:p>
          <a:p>
            <a:pPr>
              <a:buFont typeface="Arial" panose="020B0604020202020204" pitchFamily="34" charset="0"/>
              <a:buChar char="•"/>
            </a:pPr>
            <a:r>
              <a:rPr lang="en-US" sz="1200" dirty="0">
                <a:solidFill>
                  <a:schemeClr val="bg1"/>
                </a:solidFill>
              </a:rPr>
              <a:t>An extreme drop in traffic occurs during mid-day hours (</a:t>
            </a:r>
            <a:r>
              <a:rPr lang="en-US" sz="1200" b="1" dirty="0">
                <a:solidFill>
                  <a:schemeClr val="bg1"/>
                </a:solidFill>
              </a:rPr>
              <a:t>10:00 AM – 2:00 PM</a:t>
            </a:r>
            <a:r>
              <a:rPr lang="en-US" sz="1200" dirty="0">
                <a:solidFill>
                  <a:schemeClr val="bg1"/>
                </a:solidFill>
              </a:rPr>
              <a:t>), with an average of only 200-300 passengers.</a:t>
            </a:r>
            <a:endParaRPr lang="id-ID" sz="1200" dirty="0">
              <a:solidFill>
                <a:schemeClr val="bg1"/>
              </a:solidFill>
            </a:endParaRPr>
          </a:p>
        </p:txBody>
      </p:sp>
      <p:sp>
        <p:nvSpPr>
          <p:cNvPr id="9" name="TextBox 8">
            <a:extLst>
              <a:ext uri="{FF2B5EF4-FFF2-40B4-BE49-F238E27FC236}">
                <a16:creationId xmlns:a16="http://schemas.microsoft.com/office/drawing/2014/main" id="{17B3E1EA-EE83-D739-E3F2-3F7B315F4627}"/>
              </a:ext>
            </a:extLst>
          </p:cNvPr>
          <p:cNvSpPr txBox="1"/>
          <p:nvPr/>
        </p:nvSpPr>
        <p:spPr>
          <a:xfrm>
            <a:off x="3805901" y="3701240"/>
            <a:ext cx="4734926" cy="73866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Apply </a:t>
            </a:r>
            <a:r>
              <a:rPr lang="en-US" b="1" dirty="0">
                <a:latin typeface="Poppins" panose="00000500000000000000" pitchFamily="2" charset="0"/>
                <a:cs typeface="Poppins" panose="00000500000000000000" pitchFamily="2" charset="0"/>
              </a:rPr>
              <a:t>Shift Schedules</a:t>
            </a:r>
            <a:r>
              <a:rPr lang="en-US" dirty="0">
                <a:latin typeface="Poppins" panose="00000500000000000000" pitchFamily="2" charset="0"/>
                <a:cs typeface="Poppins" panose="00000500000000000000" pitchFamily="2" charset="0"/>
              </a:rPr>
              <a:t>. Operate 100% fleet at 05:00-09:00, then pull 70% of the fleet to the pool at 10:00-14:00 for maintenance/rest.</a:t>
            </a:r>
            <a:endParaRPr lang="id-ID" dirty="0">
              <a:latin typeface="Poppins" panose="00000500000000000000" pitchFamily="2" charset="0"/>
              <a:cs typeface="Poppins" panose="00000500000000000000" pitchFamily="2" charset="0"/>
            </a:endParaRPr>
          </a:p>
        </p:txBody>
      </p:sp>
      <p:sp>
        <p:nvSpPr>
          <p:cNvPr id="11" name="Title 1">
            <a:extLst>
              <a:ext uri="{FF2B5EF4-FFF2-40B4-BE49-F238E27FC236}">
                <a16:creationId xmlns:a16="http://schemas.microsoft.com/office/drawing/2014/main" id="{862733BE-E513-BB22-BFFE-DE54EEB25B74}"/>
              </a:ext>
            </a:extLst>
          </p:cNvPr>
          <p:cNvSpPr txBox="1">
            <a:spLocks/>
          </p:cNvSpPr>
          <p:nvPr/>
        </p:nvSpPr>
        <p:spPr>
          <a:xfrm>
            <a:off x="3963605" y="3210274"/>
            <a:ext cx="2638500" cy="58016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Poppins"/>
              <a:buNone/>
              <a:defRPr sz="33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r>
              <a:rPr lang="en-US" sz="1600" dirty="0">
                <a:solidFill>
                  <a:srgbClr val="52AA60"/>
                </a:solidFill>
              </a:rPr>
              <a:t>Insight:</a:t>
            </a:r>
            <a:endParaRPr lang="id-ID" sz="1600" dirty="0">
              <a:solidFill>
                <a:srgbClr val="52AA60"/>
              </a:solidFill>
            </a:endParaRPr>
          </a:p>
        </p:txBody>
      </p:sp>
      <p:grpSp>
        <p:nvGrpSpPr>
          <p:cNvPr id="4" name="Group 3">
            <a:extLst>
              <a:ext uri="{FF2B5EF4-FFF2-40B4-BE49-F238E27FC236}">
                <a16:creationId xmlns:a16="http://schemas.microsoft.com/office/drawing/2014/main" id="{27D07776-83E8-1FD7-72FB-8F041ACB670D}"/>
              </a:ext>
            </a:extLst>
          </p:cNvPr>
          <p:cNvGrpSpPr/>
          <p:nvPr/>
        </p:nvGrpSpPr>
        <p:grpSpPr>
          <a:xfrm>
            <a:off x="3963605" y="1061052"/>
            <a:ext cx="4214436" cy="1928879"/>
            <a:chOff x="3949119" y="951571"/>
            <a:chExt cx="4214436" cy="1928879"/>
          </a:xfrm>
          <a:effectLst>
            <a:outerShdw blurRad="50800" dist="38100" dir="2700000" algn="tl" rotWithShape="0">
              <a:prstClr val="black">
                <a:alpha val="40000"/>
              </a:prstClr>
            </a:outerShdw>
          </a:effectLst>
        </p:grpSpPr>
        <p:pic>
          <p:nvPicPr>
            <p:cNvPr id="2" name="Picture 1">
              <a:extLst>
                <a:ext uri="{FF2B5EF4-FFF2-40B4-BE49-F238E27FC236}">
                  <a16:creationId xmlns:a16="http://schemas.microsoft.com/office/drawing/2014/main" id="{39E7109D-F924-B029-6B6D-ECC65387209D}"/>
                </a:ext>
              </a:extLst>
            </p:cNvPr>
            <p:cNvPicPr>
              <a:picLocks noChangeAspect="1"/>
            </p:cNvPicPr>
            <p:nvPr/>
          </p:nvPicPr>
          <p:blipFill>
            <a:blip r:embed="rId2"/>
            <a:stretch>
              <a:fillRect/>
            </a:stretch>
          </p:blipFill>
          <p:spPr>
            <a:xfrm>
              <a:off x="3949119" y="951571"/>
              <a:ext cx="4214436" cy="1928879"/>
            </a:xfrm>
            <a:prstGeom prst="rect">
              <a:avLst/>
            </a:prstGeom>
            <a:effectLst>
              <a:outerShdw blurRad="50800" dist="38100" dir="2700000" algn="tl" rotWithShape="0">
                <a:prstClr val="black">
                  <a:alpha val="40000"/>
                </a:prstClr>
              </a:outerShdw>
            </a:effectLst>
          </p:spPr>
        </p:pic>
        <p:sp>
          <p:nvSpPr>
            <p:cNvPr id="3" name="Rectangle: Rounded Corners 2">
              <a:extLst>
                <a:ext uri="{FF2B5EF4-FFF2-40B4-BE49-F238E27FC236}">
                  <a16:creationId xmlns:a16="http://schemas.microsoft.com/office/drawing/2014/main" id="{B05C3D59-8BE8-11EB-9681-BA2D80F9A14B}"/>
                </a:ext>
              </a:extLst>
            </p:cNvPr>
            <p:cNvSpPr/>
            <p:nvPr/>
          </p:nvSpPr>
          <p:spPr>
            <a:xfrm>
              <a:off x="6475141" y="951571"/>
              <a:ext cx="676508" cy="1928879"/>
            </a:xfrm>
            <a:prstGeom prst="roundRect">
              <a:avLst/>
            </a:prstGeom>
            <a:noFill/>
            <a:ln w="28575">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grpSp>
    </p:spTree>
    <p:extLst>
      <p:ext uri="{BB962C8B-B14F-4D97-AF65-F5344CB8AC3E}">
        <p14:creationId xmlns:p14="http://schemas.microsoft.com/office/powerpoint/2010/main" val="96633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41A35-81A1-6F2A-6EB8-D0CFFC66A90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B1590CA-EE97-82D5-8F3B-28AF316F2A9A}"/>
              </a:ext>
            </a:extLst>
          </p:cNvPr>
          <p:cNvSpPr>
            <a:spLocks noGrp="1"/>
          </p:cNvSpPr>
          <p:nvPr>
            <p:ph type="title"/>
          </p:nvPr>
        </p:nvSpPr>
        <p:spPr>
          <a:xfrm>
            <a:off x="295999" y="683823"/>
            <a:ext cx="2638500" cy="580167"/>
          </a:xfrm>
        </p:spPr>
        <p:txBody>
          <a:bodyPr>
            <a:noAutofit/>
          </a:bodyPr>
          <a:lstStyle/>
          <a:p>
            <a:r>
              <a:rPr lang="en-US" sz="1600" dirty="0">
                <a:solidFill>
                  <a:srgbClr val="C4F63B"/>
                </a:solidFill>
              </a:rPr>
              <a:t>Peak Day</a:t>
            </a:r>
            <a:endParaRPr lang="id-ID" sz="1600" dirty="0">
              <a:solidFill>
                <a:srgbClr val="C4F63B"/>
              </a:solidFill>
            </a:endParaRPr>
          </a:p>
        </p:txBody>
      </p:sp>
      <p:sp>
        <p:nvSpPr>
          <p:cNvPr id="7" name="Subtitle 2">
            <a:extLst>
              <a:ext uri="{FF2B5EF4-FFF2-40B4-BE49-F238E27FC236}">
                <a16:creationId xmlns:a16="http://schemas.microsoft.com/office/drawing/2014/main" id="{52EDDAD3-2C2D-8311-609B-BAF95EF6CD6A}"/>
              </a:ext>
            </a:extLst>
          </p:cNvPr>
          <p:cNvSpPr>
            <a:spLocks noGrp="1"/>
          </p:cNvSpPr>
          <p:nvPr>
            <p:ph type="subTitle" idx="1"/>
          </p:nvPr>
        </p:nvSpPr>
        <p:spPr>
          <a:xfrm>
            <a:off x="127143" y="1154509"/>
            <a:ext cx="3137210" cy="4081346"/>
          </a:xfrm>
        </p:spPr>
        <p:txBody>
          <a:bodyPr>
            <a:normAutofit/>
          </a:bodyPr>
          <a:lstStyle/>
          <a:p>
            <a:pPr>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There is almost 0% variance from Monday to Friday. Passengers are the same people with the same routine every workday.</a:t>
            </a:r>
          </a:p>
          <a:p>
            <a:pPr>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When offices close, </a:t>
            </a:r>
            <a:r>
              <a:rPr lang="en-US" sz="1200" dirty="0" err="1">
                <a:solidFill>
                  <a:schemeClr val="bg1"/>
                </a:solidFill>
                <a:latin typeface="Poppins" panose="00000500000000000000" pitchFamily="2" charset="0"/>
                <a:cs typeface="Poppins" panose="00000500000000000000" pitchFamily="2" charset="0"/>
              </a:rPr>
              <a:t>Transjakarta</a:t>
            </a:r>
            <a:r>
              <a:rPr lang="en-US" sz="1200" dirty="0">
                <a:solidFill>
                  <a:schemeClr val="bg1"/>
                </a:solidFill>
                <a:latin typeface="Poppins" panose="00000500000000000000" pitchFamily="2" charset="0"/>
                <a:cs typeface="Poppins" panose="00000500000000000000" pitchFamily="2" charset="0"/>
              </a:rPr>
              <a:t> loses </a:t>
            </a:r>
            <a:r>
              <a:rPr lang="en-US" sz="1200" b="1" dirty="0">
                <a:solidFill>
                  <a:schemeClr val="bg1"/>
                </a:solidFill>
                <a:latin typeface="Poppins" panose="00000500000000000000" pitchFamily="2" charset="0"/>
                <a:cs typeface="Poppins" panose="00000500000000000000" pitchFamily="2" charset="0"/>
              </a:rPr>
              <a:t>3/4 of its customers</a:t>
            </a:r>
            <a:r>
              <a:rPr lang="en-US" sz="1200" dirty="0">
                <a:solidFill>
                  <a:schemeClr val="bg1"/>
                </a:solidFill>
                <a:latin typeface="Poppins" panose="00000500000000000000" pitchFamily="2" charset="0"/>
                <a:cs typeface="Poppins" panose="00000500000000000000" pitchFamily="2" charset="0"/>
              </a:rPr>
              <a:t>. This proves it is not yet a top choice for leisure/tourism.</a:t>
            </a:r>
          </a:p>
          <a:p>
            <a:pPr>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Sunday traffic is slightly higher than Saturday, likely due to Car Free Day (CFD) or social events.</a:t>
            </a:r>
            <a:endParaRPr lang="id-ID" sz="1200" dirty="0">
              <a:solidFill>
                <a:schemeClr val="bg1"/>
              </a:solidFill>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A005EFF5-AAEA-2B30-B089-FCB45E708B80}"/>
              </a:ext>
            </a:extLst>
          </p:cNvPr>
          <p:cNvSpPr txBox="1"/>
          <p:nvPr/>
        </p:nvSpPr>
        <p:spPr>
          <a:xfrm>
            <a:off x="3880867" y="3686148"/>
            <a:ext cx="4734926" cy="769441"/>
          </a:xfrm>
          <a:prstGeom prst="rect">
            <a:avLst/>
          </a:prstGeom>
          <a:noFill/>
        </p:spPr>
        <p:txBody>
          <a:bodyPr wrap="square" rtlCol="0">
            <a:spAutoFit/>
          </a:bodyPr>
          <a:lstStyle/>
          <a:p>
            <a:pPr marL="285750" indent="-285750">
              <a:buFont typeface="Arial" panose="020B0604020202020204" pitchFamily="34" charset="0"/>
              <a:buChar char="•"/>
            </a:pPr>
            <a:r>
              <a:rPr lang="en-US" sz="1100" dirty="0">
                <a:latin typeface="Poppins" panose="00000500000000000000" pitchFamily="2" charset="0"/>
                <a:cs typeface="Poppins" panose="00000500000000000000" pitchFamily="2" charset="0"/>
              </a:rPr>
              <a:t>Drastically cut fleet operations on weekends (73% traffic drop) to prevent losses.</a:t>
            </a:r>
          </a:p>
          <a:p>
            <a:pPr marL="285750" indent="-285750">
              <a:buFont typeface="Arial" panose="020B0604020202020204" pitchFamily="34" charset="0"/>
              <a:buChar char="•"/>
            </a:pPr>
            <a:r>
              <a:rPr lang="en-US" sz="1100" dirty="0">
                <a:latin typeface="Poppins" panose="00000500000000000000" pitchFamily="2" charset="0"/>
                <a:cs typeface="Poppins" panose="00000500000000000000" pitchFamily="2" charset="0"/>
              </a:rPr>
              <a:t>Create a </a:t>
            </a:r>
            <a:r>
              <a:rPr lang="en-US" sz="1100" b="1" dirty="0">
                <a:latin typeface="Poppins" panose="00000500000000000000" pitchFamily="2" charset="0"/>
                <a:cs typeface="Poppins" panose="00000500000000000000" pitchFamily="2" charset="0"/>
              </a:rPr>
              <a:t>"Cheap Jakarta Tour"</a:t>
            </a:r>
            <a:r>
              <a:rPr lang="en-US" sz="1100" dirty="0">
                <a:latin typeface="Poppins" panose="00000500000000000000" pitchFamily="2" charset="0"/>
                <a:cs typeface="Poppins" panose="00000500000000000000" pitchFamily="2" charset="0"/>
              </a:rPr>
              <a:t> campaign specifically for weekends to boost ridership</a:t>
            </a:r>
            <a:r>
              <a:rPr lang="en-US" sz="1100" b="1" dirty="0">
                <a:latin typeface="Poppins" panose="00000500000000000000" pitchFamily="2" charset="0"/>
                <a:cs typeface="Poppins" panose="00000500000000000000" pitchFamily="2" charset="0"/>
              </a:rPr>
              <a:t>.</a:t>
            </a:r>
            <a:r>
              <a:rPr lang="en-US" sz="1100" dirty="0">
                <a:latin typeface="Poppins" panose="00000500000000000000" pitchFamily="2" charset="0"/>
                <a:cs typeface="Poppins" panose="00000500000000000000" pitchFamily="2" charset="0"/>
              </a:rPr>
              <a:t> </a:t>
            </a:r>
            <a:endParaRPr lang="id-ID" sz="1100" dirty="0">
              <a:latin typeface="Poppins" panose="00000500000000000000" pitchFamily="2" charset="0"/>
              <a:cs typeface="Poppins" panose="00000500000000000000" pitchFamily="2" charset="0"/>
            </a:endParaRPr>
          </a:p>
        </p:txBody>
      </p:sp>
      <p:sp>
        <p:nvSpPr>
          <p:cNvPr id="11" name="Title 1">
            <a:extLst>
              <a:ext uri="{FF2B5EF4-FFF2-40B4-BE49-F238E27FC236}">
                <a16:creationId xmlns:a16="http://schemas.microsoft.com/office/drawing/2014/main" id="{121F4FF3-7722-BF49-FF28-1F9C5DD31E85}"/>
              </a:ext>
            </a:extLst>
          </p:cNvPr>
          <p:cNvSpPr txBox="1">
            <a:spLocks/>
          </p:cNvSpPr>
          <p:nvPr/>
        </p:nvSpPr>
        <p:spPr>
          <a:xfrm>
            <a:off x="4038571" y="3195182"/>
            <a:ext cx="2638500" cy="58016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Poppins"/>
              <a:buNone/>
              <a:defRPr sz="33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r>
              <a:rPr lang="en-US" sz="1600" dirty="0">
                <a:solidFill>
                  <a:srgbClr val="52AA60"/>
                </a:solidFill>
              </a:rPr>
              <a:t>Insight:</a:t>
            </a:r>
            <a:endParaRPr lang="id-ID" sz="1600" dirty="0">
              <a:solidFill>
                <a:srgbClr val="52AA60"/>
              </a:solidFill>
            </a:endParaRPr>
          </a:p>
        </p:txBody>
      </p:sp>
      <p:pic>
        <p:nvPicPr>
          <p:cNvPr id="10" name="Picture 9">
            <a:extLst>
              <a:ext uri="{FF2B5EF4-FFF2-40B4-BE49-F238E27FC236}">
                <a16:creationId xmlns:a16="http://schemas.microsoft.com/office/drawing/2014/main" id="{226FEE06-9326-1788-9551-391906E0DAE9}"/>
              </a:ext>
            </a:extLst>
          </p:cNvPr>
          <p:cNvPicPr>
            <a:picLocks noChangeAspect="1"/>
          </p:cNvPicPr>
          <p:nvPr/>
        </p:nvPicPr>
        <p:blipFill>
          <a:blip r:embed="rId2"/>
          <a:stretch>
            <a:fillRect/>
          </a:stretch>
        </p:blipFill>
        <p:spPr>
          <a:xfrm>
            <a:off x="3880867" y="944293"/>
            <a:ext cx="4348905" cy="200540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73296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BD651-FA45-ED03-A7FA-5D1FA95B64B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8E5C3DA-D0C3-B2E3-80E1-10991D5297EC}"/>
              </a:ext>
            </a:extLst>
          </p:cNvPr>
          <p:cNvSpPr>
            <a:spLocks noGrp="1"/>
          </p:cNvSpPr>
          <p:nvPr>
            <p:ph type="title"/>
          </p:nvPr>
        </p:nvSpPr>
        <p:spPr>
          <a:xfrm>
            <a:off x="280368" y="480885"/>
            <a:ext cx="2638500" cy="580167"/>
          </a:xfrm>
        </p:spPr>
        <p:txBody>
          <a:bodyPr>
            <a:noAutofit/>
          </a:bodyPr>
          <a:lstStyle/>
          <a:p>
            <a:r>
              <a:rPr lang="id-ID" sz="1600" dirty="0" err="1">
                <a:solidFill>
                  <a:schemeClr val="accent6"/>
                </a:solidFill>
              </a:rPr>
              <a:t>Busiest</a:t>
            </a:r>
            <a:r>
              <a:rPr lang="id-ID" sz="1600" dirty="0">
                <a:solidFill>
                  <a:schemeClr val="accent6"/>
                </a:solidFill>
              </a:rPr>
              <a:t> </a:t>
            </a:r>
            <a:r>
              <a:rPr lang="id-ID" sz="1600" dirty="0" err="1">
                <a:solidFill>
                  <a:schemeClr val="accent6"/>
                </a:solidFill>
              </a:rPr>
              <a:t>Corridors</a:t>
            </a:r>
            <a:endParaRPr lang="id-ID" sz="1600" dirty="0">
              <a:solidFill>
                <a:schemeClr val="accent6"/>
              </a:solidFill>
            </a:endParaRPr>
          </a:p>
        </p:txBody>
      </p:sp>
      <p:sp>
        <p:nvSpPr>
          <p:cNvPr id="7" name="Subtitle 2">
            <a:extLst>
              <a:ext uri="{FF2B5EF4-FFF2-40B4-BE49-F238E27FC236}">
                <a16:creationId xmlns:a16="http://schemas.microsoft.com/office/drawing/2014/main" id="{69D12B48-5D19-CB67-D467-346DB36CABC1}"/>
              </a:ext>
            </a:extLst>
          </p:cNvPr>
          <p:cNvSpPr>
            <a:spLocks noGrp="1"/>
          </p:cNvSpPr>
          <p:nvPr>
            <p:ph type="subTitle" idx="1"/>
          </p:nvPr>
        </p:nvSpPr>
        <p:spPr>
          <a:xfrm>
            <a:off x="111512" y="951571"/>
            <a:ext cx="3137210" cy="4081346"/>
          </a:xfrm>
        </p:spPr>
        <p:txBody>
          <a:bodyPr>
            <a:normAutofit/>
          </a:bodyPr>
          <a:lstStyle/>
          <a:p>
            <a:pPr>
              <a:buFont typeface="Arial" panose="020B0604020202020204" pitchFamily="34" charset="0"/>
              <a:buChar char="•"/>
            </a:pPr>
            <a:r>
              <a:rPr lang="en-US" sz="1200" b="1" dirty="0" err="1">
                <a:solidFill>
                  <a:schemeClr val="bg1"/>
                </a:solidFill>
                <a:latin typeface="Poppins" panose="00000500000000000000" pitchFamily="2" charset="0"/>
                <a:cs typeface="Poppins" panose="00000500000000000000" pitchFamily="2" charset="0"/>
              </a:rPr>
              <a:t>Cibubur</a:t>
            </a:r>
            <a:r>
              <a:rPr lang="en-US" sz="1200" b="1" dirty="0">
                <a:solidFill>
                  <a:schemeClr val="bg1"/>
                </a:solidFill>
                <a:latin typeface="Poppins" panose="00000500000000000000" pitchFamily="2" charset="0"/>
                <a:cs typeface="Poppins" panose="00000500000000000000" pitchFamily="2" charset="0"/>
              </a:rPr>
              <a:t> - Balai Kota</a:t>
            </a:r>
            <a:r>
              <a:rPr lang="en-US" sz="1200" dirty="0">
                <a:solidFill>
                  <a:schemeClr val="bg1"/>
                </a:solidFill>
                <a:latin typeface="Poppins" panose="00000500000000000000" pitchFamily="2" charset="0"/>
                <a:cs typeface="Poppins" panose="00000500000000000000" pitchFamily="2" charset="0"/>
              </a:rPr>
              <a:t> is the busiest because KRL (train) access is not as convenient there compared to Bekasi/</a:t>
            </a:r>
            <a:r>
              <a:rPr lang="en-US" sz="1200" dirty="0" err="1">
                <a:solidFill>
                  <a:schemeClr val="bg1"/>
                </a:solidFill>
                <a:latin typeface="Poppins" panose="00000500000000000000" pitchFamily="2" charset="0"/>
                <a:cs typeface="Poppins" panose="00000500000000000000" pitchFamily="2" charset="0"/>
              </a:rPr>
              <a:t>Serpong</a:t>
            </a:r>
            <a:r>
              <a:rPr lang="en-US" sz="1200" dirty="0">
                <a:solidFill>
                  <a:schemeClr val="bg1"/>
                </a:solidFill>
                <a:latin typeface="Poppins" panose="00000500000000000000" pitchFamily="2" charset="0"/>
                <a:cs typeface="Poppins" panose="00000500000000000000" pitchFamily="2" charset="0"/>
              </a:rPr>
              <a:t>. They are highly dependent on </a:t>
            </a:r>
            <a:r>
              <a:rPr lang="en-US" sz="1200" dirty="0" err="1">
                <a:solidFill>
                  <a:schemeClr val="bg1"/>
                </a:solidFill>
                <a:latin typeface="Poppins" panose="00000500000000000000" pitchFamily="2" charset="0"/>
                <a:cs typeface="Poppins" panose="00000500000000000000" pitchFamily="2" charset="0"/>
              </a:rPr>
              <a:t>Transjakarta</a:t>
            </a:r>
            <a:r>
              <a:rPr lang="en-US" sz="1200" dirty="0">
                <a:solidFill>
                  <a:schemeClr val="bg1"/>
                </a:solidFill>
                <a:latin typeface="Poppins" panose="00000500000000000000" pitchFamily="2" charset="0"/>
                <a:cs typeface="Poppins" panose="00000500000000000000" pitchFamily="2" charset="0"/>
              </a:rPr>
              <a:t>.</a:t>
            </a:r>
          </a:p>
          <a:p>
            <a:pPr>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The Top 10 routes confirm that </a:t>
            </a:r>
            <a:r>
              <a:rPr lang="en-US" sz="1200" dirty="0" err="1">
                <a:solidFill>
                  <a:schemeClr val="bg1"/>
                </a:solidFill>
                <a:latin typeface="Poppins" panose="00000500000000000000" pitchFamily="2" charset="0"/>
                <a:cs typeface="Poppins" panose="00000500000000000000" pitchFamily="2" charset="0"/>
              </a:rPr>
              <a:t>Transjakarta</a:t>
            </a:r>
            <a:r>
              <a:rPr lang="en-US" sz="1200" dirty="0">
                <a:solidFill>
                  <a:schemeClr val="bg1"/>
                </a:solidFill>
                <a:latin typeface="Poppins" panose="00000500000000000000" pitchFamily="2" charset="0"/>
                <a:cs typeface="Poppins" panose="00000500000000000000" pitchFamily="2" charset="0"/>
              </a:rPr>
              <a:t> is the backbone not just for DKI Jakarta, but for </a:t>
            </a:r>
            <a:r>
              <a:rPr lang="en-US" sz="1200" b="1" dirty="0" err="1">
                <a:solidFill>
                  <a:schemeClr val="bg1"/>
                </a:solidFill>
                <a:latin typeface="Poppins" panose="00000500000000000000" pitchFamily="2" charset="0"/>
                <a:cs typeface="Poppins" panose="00000500000000000000" pitchFamily="2" charset="0"/>
              </a:rPr>
              <a:t>Bodetabek</a:t>
            </a:r>
            <a:r>
              <a:rPr lang="en-US" sz="1200" dirty="0">
                <a:solidFill>
                  <a:schemeClr val="bg1"/>
                </a:solidFill>
                <a:latin typeface="Poppins" panose="00000500000000000000" pitchFamily="2" charset="0"/>
                <a:cs typeface="Poppins" panose="00000500000000000000" pitchFamily="2" charset="0"/>
              </a:rPr>
              <a:t> (Greater Jakarta) citizens.</a:t>
            </a:r>
            <a:endParaRPr lang="id-ID" sz="1200" dirty="0">
              <a:solidFill>
                <a:schemeClr val="bg1"/>
              </a:solidFill>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FC022D4C-0C31-E5AF-22F6-6909C19E84E1}"/>
              </a:ext>
            </a:extLst>
          </p:cNvPr>
          <p:cNvSpPr txBox="1"/>
          <p:nvPr/>
        </p:nvSpPr>
        <p:spPr>
          <a:xfrm>
            <a:off x="3681369" y="3264691"/>
            <a:ext cx="4734926" cy="1384995"/>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Maintain </a:t>
            </a:r>
            <a:r>
              <a:rPr lang="en-US" sz="1200" b="1" dirty="0">
                <a:latin typeface="Poppins" panose="00000500000000000000" pitchFamily="2" charset="0"/>
                <a:cs typeface="Poppins" panose="00000500000000000000" pitchFamily="2" charset="0"/>
              </a:rPr>
              <a:t>"Direct Service"</a:t>
            </a:r>
            <a:r>
              <a:rPr lang="en-US" sz="1200" dirty="0">
                <a:latin typeface="Poppins" panose="00000500000000000000" pitchFamily="2" charset="0"/>
                <a:cs typeface="Poppins" panose="00000500000000000000" pitchFamily="2" charset="0"/>
              </a:rPr>
              <a:t> routes during peak hours. Do not force passengers to transit at central hubs (like </a:t>
            </a:r>
            <a:r>
              <a:rPr lang="en-US" sz="1200" dirty="0" err="1">
                <a:latin typeface="Poppins" panose="00000500000000000000" pitchFamily="2" charset="0"/>
                <a:cs typeface="Poppins" panose="00000500000000000000" pitchFamily="2" charset="0"/>
              </a:rPr>
              <a:t>Cawang</a:t>
            </a:r>
            <a:r>
              <a:rPr lang="en-US" sz="1200" dirty="0">
                <a:latin typeface="Poppins" panose="00000500000000000000" pitchFamily="2" charset="0"/>
                <a:cs typeface="Poppins" panose="00000500000000000000" pitchFamily="2" charset="0"/>
              </a:rPr>
              <a:t>/Harmoni) as it increases travel time.</a:t>
            </a:r>
          </a:p>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Passengers from BSD, </a:t>
            </a:r>
            <a:r>
              <a:rPr lang="en-US" sz="1200" dirty="0" err="1">
                <a:latin typeface="Poppins" panose="00000500000000000000" pitchFamily="2" charset="0"/>
                <a:cs typeface="Poppins" panose="00000500000000000000" pitchFamily="2" charset="0"/>
              </a:rPr>
              <a:t>Bintaro</a:t>
            </a:r>
            <a:r>
              <a:rPr lang="en-US" sz="1200" dirty="0">
                <a:latin typeface="Poppins" panose="00000500000000000000" pitchFamily="2" charset="0"/>
                <a:cs typeface="Poppins" panose="00000500000000000000" pitchFamily="2" charset="0"/>
              </a:rPr>
              <a:t>, and </a:t>
            </a:r>
            <a:r>
              <a:rPr lang="en-US" sz="1200" dirty="0" err="1">
                <a:latin typeface="Poppins" panose="00000500000000000000" pitchFamily="2" charset="0"/>
                <a:cs typeface="Poppins" panose="00000500000000000000" pitchFamily="2" charset="0"/>
              </a:rPr>
              <a:t>Cibubur</a:t>
            </a:r>
            <a:r>
              <a:rPr lang="en-US" sz="1200" dirty="0">
                <a:latin typeface="Poppins" panose="00000500000000000000" pitchFamily="2" charset="0"/>
                <a:cs typeface="Poppins" panose="00000500000000000000" pitchFamily="2" charset="0"/>
              </a:rPr>
              <a:t> are upper-middle class car owners. Ensure </a:t>
            </a:r>
            <a:r>
              <a:rPr lang="en-US" sz="1200" b="1" dirty="0">
                <a:latin typeface="Poppins" panose="00000500000000000000" pitchFamily="2" charset="0"/>
                <a:cs typeface="Poppins" panose="00000500000000000000" pitchFamily="2" charset="0"/>
              </a:rPr>
              <a:t>Park &amp; Ride</a:t>
            </a:r>
            <a:r>
              <a:rPr lang="en-US" sz="1200" dirty="0">
                <a:latin typeface="Poppins" panose="00000500000000000000" pitchFamily="2" charset="0"/>
                <a:cs typeface="Poppins" panose="00000500000000000000" pitchFamily="2" charset="0"/>
              </a:rPr>
              <a:t> facilities at starting points are expanded and safe. If parking is difficult, they will revert to using private cars.</a:t>
            </a:r>
            <a:endParaRPr lang="id-ID" sz="1200" dirty="0">
              <a:latin typeface="Poppins" panose="00000500000000000000" pitchFamily="2" charset="0"/>
              <a:cs typeface="Poppins" panose="00000500000000000000" pitchFamily="2" charset="0"/>
            </a:endParaRPr>
          </a:p>
        </p:txBody>
      </p:sp>
      <p:sp>
        <p:nvSpPr>
          <p:cNvPr id="11" name="Title 1">
            <a:extLst>
              <a:ext uri="{FF2B5EF4-FFF2-40B4-BE49-F238E27FC236}">
                <a16:creationId xmlns:a16="http://schemas.microsoft.com/office/drawing/2014/main" id="{4DF45421-CFA2-F6DE-E969-10F624FA5950}"/>
              </a:ext>
            </a:extLst>
          </p:cNvPr>
          <p:cNvSpPr txBox="1">
            <a:spLocks/>
          </p:cNvSpPr>
          <p:nvPr/>
        </p:nvSpPr>
        <p:spPr>
          <a:xfrm>
            <a:off x="3839073" y="2773725"/>
            <a:ext cx="2638500" cy="58016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300"/>
              <a:buFont typeface="Poppins"/>
              <a:buNone/>
              <a:defRPr sz="3300" b="1" i="0" u="none" strike="noStrike" cap="none">
                <a:solidFill>
                  <a:schemeClr val="lt1"/>
                </a:solidFill>
                <a:latin typeface="Poppins"/>
                <a:ea typeface="Poppins"/>
                <a:cs typeface="Poppins"/>
                <a:sym typeface="Poppins"/>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r>
              <a:rPr lang="en-US" sz="1600" dirty="0">
                <a:solidFill>
                  <a:srgbClr val="52AA60"/>
                </a:solidFill>
              </a:rPr>
              <a:t>Insight:</a:t>
            </a:r>
            <a:endParaRPr lang="id-ID" sz="1600" dirty="0">
              <a:solidFill>
                <a:srgbClr val="52AA60"/>
              </a:solidFill>
            </a:endParaRPr>
          </a:p>
        </p:txBody>
      </p:sp>
      <p:pic>
        <p:nvPicPr>
          <p:cNvPr id="2" name="Picture 1">
            <a:extLst>
              <a:ext uri="{FF2B5EF4-FFF2-40B4-BE49-F238E27FC236}">
                <a16:creationId xmlns:a16="http://schemas.microsoft.com/office/drawing/2014/main" id="{A0A9DB40-0024-E141-05BC-FA4BE1F819FD}"/>
              </a:ext>
            </a:extLst>
          </p:cNvPr>
          <p:cNvPicPr>
            <a:picLocks noChangeAspect="1"/>
          </p:cNvPicPr>
          <p:nvPr/>
        </p:nvPicPr>
        <p:blipFill>
          <a:blip r:embed="rId2"/>
          <a:stretch>
            <a:fillRect/>
          </a:stretch>
        </p:blipFill>
        <p:spPr>
          <a:xfrm>
            <a:off x="3417578" y="409527"/>
            <a:ext cx="5761219" cy="2597121"/>
          </a:xfrm>
          <a:prstGeom prst="rect">
            <a:avLst/>
          </a:prstGeom>
        </p:spPr>
      </p:pic>
    </p:spTree>
    <p:extLst>
      <p:ext uri="{BB962C8B-B14F-4D97-AF65-F5344CB8AC3E}">
        <p14:creationId xmlns:p14="http://schemas.microsoft.com/office/powerpoint/2010/main" val="691236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
          <a:extLst>
            <a:ext uri="{FF2B5EF4-FFF2-40B4-BE49-F238E27FC236}">
              <a16:creationId xmlns:a16="http://schemas.microsoft.com/office/drawing/2014/main" id="{7A92B8D4-C777-A3EF-D6CB-BDA3562A4167}"/>
            </a:ext>
          </a:extLst>
        </p:cNvPr>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9AC4DA5B-2B91-DFFF-C9BA-F4E2BD45513D}"/>
              </a:ext>
            </a:extLst>
          </p:cNvPr>
          <p:cNvPicPr>
            <a:picLocks noChangeAspect="1"/>
          </p:cNvPicPr>
          <p:nvPr/>
        </p:nvPicPr>
        <p:blipFill>
          <a:blip r:embed="rId3"/>
          <a:stretch>
            <a:fillRect/>
          </a:stretch>
        </p:blipFill>
        <p:spPr>
          <a:xfrm>
            <a:off x="1070517" y="1081135"/>
            <a:ext cx="7002966" cy="3315528"/>
          </a:xfrm>
          <a:prstGeom prst="rect">
            <a:avLst/>
          </a:prstGeom>
        </p:spPr>
      </p:pic>
      <p:pic>
        <p:nvPicPr>
          <p:cNvPr id="7" name="Picture 6">
            <a:extLst>
              <a:ext uri="{FF2B5EF4-FFF2-40B4-BE49-F238E27FC236}">
                <a16:creationId xmlns:a16="http://schemas.microsoft.com/office/drawing/2014/main" id="{8CFF88B4-943F-6B95-5171-D8EEE903F68C}"/>
              </a:ext>
            </a:extLst>
          </p:cNvPr>
          <p:cNvPicPr>
            <a:picLocks noChangeAspect="1"/>
          </p:cNvPicPr>
          <p:nvPr/>
        </p:nvPicPr>
        <p:blipFill>
          <a:blip r:embed="rId4"/>
          <a:stretch>
            <a:fillRect/>
          </a:stretch>
        </p:blipFill>
        <p:spPr>
          <a:xfrm>
            <a:off x="81776" y="393718"/>
            <a:ext cx="9144000" cy="536539"/>
          </a:xfrm>
          <a:prstGeom prst="rect">
            <a:avLst/>
          </a:prstGeom>
        </p:spPr>
      </p:pic>
    </p:spTree>
    <p:extLst>
      <p:ext uri="{BB962C8B-B14F-4D97-AF65-F5344CB8AC3E}">
        <p14:creationId xmlns:p14="http://schemas.microsoft.com/office/powerpoint/2010/main" val="3337834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2" name="Google Shape;46;p1">
            <a:extLst>
              <a:ext uri="{FF2B5EF4-FFF2-40B4-BE49-F238E27FC236}">
                <a16:creationId xmlns:a16="http://schemas.microsoft.com/office/drawing/2014/main" id="{13631EAC-AD77-F8CA-65DE-68080E182426}"/>
              </a:ext>
            </a:extLst>
          </p:cNvPr>
          <p:cNvSpPr txBox="1"/>
          <p:nvPr/>
        </p:nvSpPr>
        <p:spPr>
          <a:xfrm>
            <a:off x="438724" y="1155545"/>
            <a:ext cx="5159189" cy="2832409"/>
          </a:xfrm>
          <a:prstGeom prst="rect">
            <a:avLst/>
          </a:prstGeom>
          <a:noFill/>
          <a:ln>
            <a:noFill/>
          </a:ln>
        </p:spPr>
        <p:txBody>
          <a:bodyPr spcFirstLastPara="1" wrap="square" lIns="91425" tIns="91425" rIns="91425" bIns="91425" anchor="ctr" anchorCtr="0">
            <a:normAutofit/>
          </a:bodyPr>
          <a:lstStyle/>
          <a:p>
            <a:r>
              <a:rPr lang="id-ID" sz="2400" b="1" dirty="0">
                <a:solidFill>
                  <a:srgbClr val="212121"/>
                </a:solidFill>
                <a:latin typeface="Poppins" panose="00000500000000000000" pitchFamily="2" charset="0"/>
                <a:ea typeface="Poppins SemiBold"/>
                <a:cs typeface="Poppins" panose="00000500000000000000" pitchFamily="2" charset="0"/>
                <a:sym typeface="Poppins SemiBold"/>
              </a:rPr>
              <a:t>Irfan Maulana</a:t>
            </a:r>
            <a:endParaRPr lang="en" sz="2400" b="1" dirty="0">
              <a:solidFill>
                <a:srgbClr val="212121"/>
              </a:solidFill>
              <a:latin typeface="Poppins" panose="00000500000000000000" pitchFamily="2" charset="0"/>
              <a:ea typeface="Poppins SemiBold"/>
              <a:cs typeface="Poppins" panose="00000500000000000000" pitchFamily="2" charset="0"/>
              <a:sym typeface="Poppins SemiBold"/>
            </a:endParaRPr>
          </a:p>
          <a:p>
            <a:pPr marL="0" lvl="0" indent="0" algn="l" rtl="0">
              <a:spcBef>
                <a:spcPts val="0"/>
              </a:spcBef>
              <a:spcAft>
                <a:spcPts val="0"/>
              </a:spcAft>
              <a:buNone/>
            </a:pPr>
            <a:r>
              <a:rPr lang="en" b="1" dirty="0">
                <a:solidFill>
                  <a:srgbClr val="212121"/>
                </a:solidFill>
                <a:latin typeface="Poppins" panose="00000500000000000000" pitchFamily="2" charset="0"/>
                <a:ea typeface="Poppins SemiBold"/>
                <a:cs typeface="Poppins" panose="00000500000000000000" pitchFamily="2" charset="0"/>
                <a:sym typeface="Poppins SemiBold"/>
              </a:rPr>
              <a:t>Data Analyst – Final Project Ms. Excel DQLab</a:t>
            </a:r>
          </a:p>
          <a:p>
            <a:pPr marL="0" lvl="0" indent="0" algn="l" rtl="0">
              <a:spcBef>
                <a:spcPts val="0"/>
              </a:spcBef>
              <a:spcAft>
                <a:spcPts val="0"/>
              </a:spcAft>
              <a:buNone/>
            </a:pPr>
            <a:endParaRPr lang="en" b="1" dirty="0">
              <a:solidFill>
                <a:srgbClr val="212121"/>
              </a:solidFill>
              <a:latin typeface="Poppins" panose="00000500000000000000" pitchFamily="2" charset="0"/>
              <a:ea typeface="Poppins SemiBold"/>
              <a:cs typeface="Poppins" panose="00000500000000000000" pitchFamily="2" charset="0"/>
              <a:sym typeface="Poppins SemiBold"/>
            </a:endParaRPr>
          </a:p>
          <a:p>
            <a:pPr marL="0" lvl="0" indent="0" algn="l" rtl="0">
              <a:spcBef>
                <a:spcPts val="0"/>
              </a:spcBef>
              <a:spcAft>
                <a:spcPts val="0"/>
              </a:spcAft>
              <a:buNone/>
            </a:pPr>
            <a:endParaRPr lang="en-US" b="1" dirty="0">
              <a:solidFill>
                <a:srgbClr val="212121"/>
              </a:solidFill>
              <a:latin typeface="Poppins" panose="00000500000000000000" pitchFamily="2" charset="0"/>
              <a:ea typeface="Poppins SemiBold"/>
              <a:cs typeface="Poppins" panose="00000500000000000000" pitchFamily="2" charset="0"/>
              <a:sym typeface="Poppins SemiBold"/>
            </a:endParaRPr>
          </a:p>
          <a:p>
            <a:pPr marL="0" lvl="0" indent="0" algn="l" rtl="0">
              <a:spcBef>
                <a:spcPts val="0"/>
              </a:spcBef>
              <a:spcAft>
                <a:spcPts val="0"/>
              </a:spcAft>
              <a:buNone/>
            </a:pPr>
            <a:r>
              <a:rPr lang="en-US" b="1" dirty="0">
                <a:solidFill>
                  <a:srgbClr val="212121"/>
                </a:solidFill>
                <a:latin typeface="Poppins" panose="00000500000000000000" pitchFamily="2" charset="0"/>
                <a:ea typeface="Poppins SemiBold"/>
                <a:cs typeface="Poppins" panose="00000500000000000000" pitchFamily="2" charset="0"/>
                <a:sym typeface="Poppins SemiBold"/>
              </a:rPr>
              <a:t>Follow me:</a:t>
            </a:r>
          </a:p>
          <a:p>
            <a:pPr marL="0" lvl="0" indent="0" algn="l" rtl="0">
              <a:spcBef>
                <a:spcPts val="0"/>
              </a:spcBef>
              <a:spcAft>
                <a:spcPts val="0"/>
              </a:spcAft>
              <a:buNone/>
            </a:pPr>
            <a:r>
              <a:rPr lang="en-US" dirty="0">
                <a:solidFill>
                  <a:srgbClr val="212121"/>
                </a:solidFill>
                <a:latin typeface="Poppins" panose="00000500000000000000" pitchFamily="2" charset="0"/>
                <a:ea typeface="Poppins SemiBold"/>
                <a:cs typeface="Poppins" panose="00000500000000000000" pitchFamily="2" charset="0"/>
                <a:sym typeface="Poppins SemiBold"/>
              </a:rPr>
              <a:t>Instagram: @i.ipaang</a:t>
            </a:r>
          </a:p>
          <a:p>
            <a:pPr lvl="0"/>
            <a:r>
              <a:rPr lang="en-US" dirty="0">
                <a:solidFill>
                  <a:srgbClr val="212121"/>
                </a:solidFill>
                <a:latin typeface="Poppins" panose="00000500000000000000" pitchFamily="2" charset="0"/>
                <a:ea typeface="Poppins SemiBold"/>
                <a:cs typeface="Poppins" panose="00000500000000000000" pitchFamily="2" charset="0"/>
                <a:sym typeface="Poppins SemiBold"/>
              </a:rPr>
              <a:t>LinkedIn: </a:t>
            </a:r>
            <a:r>
              <a:rPr lang="en-US" dirty="0">
                <a:solidFill>
                  <a:srgbClr val="212121"/>
                </a:solidFill>
                <a:latin typeface="Poppins" panose="00000500000000000000" pitchFamily="2" charset="0"/>
                <a:ea typeface="Poppins SemiBold"/>
                <a:cs typeface="Poppins" panose="00000500000000000000" pitchFamily="2" charset="0"/>
                <a:sym typeface="Poppins SemiBold"/>
                <a:hlinkClick r:id="rId3"/>
              </a:rPr>
              <a:t>https://www.linkedin.com/in/maulana-irfan/</a:t>
            </a:r>
            <a:endParaRPr lang="en-US" dirty="0">
              <a:solidFill>
                <a:srgbClr val="212121"/>
              </a:solidFill>
              <a:latin typeface="Poppins" panose="00000500000000000000" pitchFamily="2" charset="0"/>
              <a:ea typeface="Poppins SemiBold"/>
              <a:cs typeface="Poppins" panose="00000500000000000000" pitchFamily="2" charset="0"/>
              <a:sym typeface="Poppins SemiBold"/>
            </a:endParaRPr>
          </a:p>
          <a:p>
            <a:pPr lvl="0"/>
            <a:r>
              <a:rPr lang="en-US" dirty="0" err="1">
                <a:solidFill>
                  <a:srgbClr val="212121"/>
                </a:solidFill>
                <a:latin typeface="Poppins" panose="00000500000000000000" pitchFamily="2" charset="0"/>
                <a:ea typeface="Poppins SemiBold"/>
                <a:cs typeface="Poppins" panose="00000500000000000000" pitchFamily="2" charset="0"/>
                <a:sym typeface="Poppins SemiBold"/>
              </a:rPr>
              <a:t>Github</a:t>
            </a:r>
            <a:r>
              <a:rPr lang="en-US" dirty="0">
                <a:solidFill>
                  <a:srgbClr val="212121"/>
                </a:solidFill>
                <a:latin typeface="Poppins" panose="00000500000000000000" pitchFamily="2" charset="0"/>
                <a:ea typeface="Poppins SemiBold"/>
                <a:cs typeface="Poppins" panose="00000500000000000000" pitchFamily="2" charset="0"/>
                <a:sym typeface="Poppins SemiBold"/>
              </a:rPr>
              <a:t>: </a:t>
            </a:r>
            <a:r>
              <a:rPr lang="en-US" dirty="0">
                <a:solidFill>
                  <a:srgbClr val="212121"/>
                </a:solidFill>
                <a:latin typeface="Poppins" panose="00000500000000000000" pitchFamily="2" charset="0"/>
                <a:ea typeface="Poppins SemiBold"/>
                <a:cs typeface="Poppins" panose="00000500000000000000" pitchFamily="2" charset="0"/>
                <a:sym typeface="Poppins SemiBold"/>
                <a:hlinkClick r:id="rId4"/>
              </a:rPr>
              <a:t>https://github.com/fafnir96</a:t>
            </a:r>
            <a:endParaRPr lang="en-US" dirty="0">
              <a:solidFill>
                <a:srgbClr val="212121"/>
              </a:solidFill>
              <a:latin typeface="Poppins" panose="00000500000000000000" pitchFamily="2" charset="0"/>
              <a:ea typeface="Poppins SemiBold"/>
              <a:cs typeface="Poppins" panose="00000500000000000000" pitchFamily="2" charset="0"/>
              <a:sym typeface="Poppins SemiBold"/>
            </a:endParaRPr>
          </a:p>
          <a:p>
            <a:pPr lvl="0"/>
            <a:endParaRPr dirty="0">
              <a:solidFill>
                <a:srgbClr val="212121"/>
              </a:solidFill>
              <a:latin typeface="Poppins" panose="00000500000000000000" pitchFamily="2" charset="0"/>
              <a:ea typeface="Poppins SemiBold"/>
              <a:cs typeface="Poppins" panose="00000500000000000000" pitchFamily="2" charset="0"/>
              <a:sym typeface="Poppins SemiBo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TotalTime>
  <Words>1175</Words>
  <Application>Microsoft Office PowerPoint</Application>
  <PresentationFormat>On-screen Show (16:9)</PresentationFormat>
  <Paragraphs>79</Paragraphs>
  <Slides>14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Poppins Light</vt:lpstr>
      <vt:lpstr>Poppins</vt:lpstr>
      <vt:lpstr>Arial</vt:lpstr>
      <vt:lpstr>Angie</vt:lpstr>
      <vt:lpstr>Poppins SemiBold</vt:lpstr>
      <vt:lpstr>Simple Light</vt:lpstr>
      <vt:lpstr>PowerPoint Presentation</vt:lpstr>
      <vt:lpstr>Business Overview Transjakarta</vt:lpstr>
      <vt:lpstr>Storytelling Dataset Transjakarta</vt:lpstr>
      <vt:lpstr>Strategic Missions</vt:lpstr>
      <vt:lpstr>Data Preparation</vt:lpstr>
      <vt:lpstr>Transjakarta Overview (April 2023)</vt:lpstr>
      <vt:lpstr>Passenger Demographics</vt:lpstr>
      <vt:lpstr>Revenue by Payment Method</vt:lpstr>
      <vt:lpstr>The Golden 5 Hours</vt:lpstr>
      <vt:lpstr>Peak Hour</vt:lpstr>
      <vt:lpstr>Peak Day</vt:lpstr>
      <vt:lpstr>Busiest Corridors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Axioo Pongo</dc:creator>
  <cp:lastModifiedBy>Irfan Maulana</cp:lastModifiedBy>
  <cp:revision>75</cp:revision>
  <dcterms:modified xsi:type="dcterms:W3CDTF">2026-02-05T09:46:08Z</dcterms:modified>
</cp:coreProperties>
</file>