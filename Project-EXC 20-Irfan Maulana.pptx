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1" r:id="rId4"/>
    <p:sldId id="262" r:id="rId5"/>
    <p:sldId id="263" r:id="rId6"/>
    <p:sldId id="258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60" r:id="rId15"/>
  </p:sldIdLst>
  <p:sldSz cx="9144000" cy="5143500" type="screen16x9"/>
  <p:notesSz cx="6858000" cy="9144000"/>
  <p:embeddedFontLst>
    <p:embeddedFont>
      <p:font typeface="Angie" pitchFamily="50" charset="0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Light" panose="00000400000000000000" pitchFamily="2" charset="0"/>
      <p:regular r:id="rId22"/>
      <p:bold r:id="rId23"/>
      <p:italic r:id="rId24"/>
      <p:boldItalic r:id="rId25"/>
    </p:embeddedFont>
    <p:embeddedFont>
      <p:font typeface="Poppins SemiBold" panose="000007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VdrDcdfEWB3ZzYMVTF/2iD1Dk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AA60"/>
    <a:srgbClr val="C4F63B"/>
    <a:srgbClr val="436AB2"/>
    <a:srgbClr val="335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customschemas.google.com/relationships/presentationmetadata" Target="meta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A2DEE9BC-C399-821A-8F5A-51EA90DA7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>
            <a:extLst>
              <a:ext uri="{FF2B5EF4-FFF2-40B4-BE49-F238E27FC236}">
                <a16:creationId xmlns:a16="http://schemas.microsoft.com/office/drawing/2014/main" id="{9BBCFF14-A515-D34A-66E0-FF15C68F8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2:notes">
            <a:extLst>
              <a:ext uri="{FF2B5EF4-FFF2-40B4-BE49-F238E27FC236}">
                <a16:creationId xmlns:a16="http://schemas.microsoft.com/office/drawing/2014/main" id="{59682900-A8D5-2DB6-64B4-C91E9CA6E3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0920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29BDD053-CFF9-CFC2-567C-EB650C1CA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>
            <a:extLst>
              <a:ext uri="{FF2B5EF4-FFF2-40B4-BE49-F238E27FC236}">
                <a16:creationId xmlns:a16="http://schemas.microsoft.com/office/drawing/2014/main" id="{D1480129-AA58-0F47-D24A-9C8B90B367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2:notes">
            <a:extLst>
              <a:ext uri="{FF2B5EF4-FFF2-40B4-BE49-F238E27FC236}">
                <a16:creationId xmlns:a16="http://schemas.microsoft.com/office/drawing/2014/main" id="{EB0F39BD-0529-B194-4544-65E19BC29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3802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027FA613-1D11-2096-8A70-32E777455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>
            <a:extLst>
              <a:ext uri="{FF2B5EF4-FFF2-40B4-BE49-F238E27FC236}">
                <a16:creationId xmlns:a16="http://schemas.microsoft.com/office/drawing/2014/main" id="{902CA03B-41C4-8E81-9C08-771ED1F1F0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2:notes">
            <a:extLst>
              <a:ext uri="{FF2B5EF4-FFF2-40B4-BE49-F238E27FC236}">
                <a16:creationId xmlns:a16="http://schemas.microsoft.com/office/drawing/2014/main" id="{B760263E-B334-ED18-37CD-05757684B9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484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5AF7E100-5F48-EF6F-7A86-D2D49730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>
            <a:extLst>
              <a:ext uri="{FF2B5EF4-FFF2-40B4-BE49-F238E27FC236}">
                <a16:creationId xmlns:a16="http://schemas.microsoft.com/office/drawing/2014/main" id="{E3CE69FC-8DF0-CAF1-E6A9-7609484DF6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>
            <a:extLst>
              <a:ext uri="{FF2B5EF4-FFF2-40B4-BE49-F238E27FC236}">
                <a16:creationId xmlns:a16="http://schemas.microsoft.com/office/drawing/2014/main" id="{3B0CEC0F-0AA8-8A16-A523-6BEEF7A3F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7060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ctrTitle"/>
          </p:nvPr>
        </p:nvSpPr>
        <p:spPr>
          <a:xfrm>
            <a:off x="215700" y="859800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subTitle" idx="1"/>
          </p:nvPr>
        </p:nvSpPr>
        <p:spPr>
          <a:xfrm>
            <a:off x="215700" y="4107600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1080000" y="1958850"/>
            <a:ext cx="6984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sldNum" idx="12"/>
          </p:nvPr>
        </p:nvSpPr>
        <p:spPr>
          <a:xfrm>
            <a:off x="8472458" y="4815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>
            <a:spLocks noGrp="1"/>
          </p:cNvSpPr>
          <p:nvPr>
            <p:ph type="title"/>
          </p:nvPr>
        </p:nvSpPr>
        <p:spPr>
          <a:xfrm>
            <a:off x="311700" y="672450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>
            <a:spLocks noGrp="1"/>
          </p:cNvSpPr>
          <p:nvPr>
            <p:ph type="title"/>
          </p:nvPr>
        </p:nvSpPr>
        <p:spPr>
          <a:xfrm>
            <a:off x="265500" y="1425175"/>
            <a:ext cx="26385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ubTitle" idx="1"/>
          </p:nvPr>
        </p:nvSpPr>
        <p:spPr>
          <a:xfrm>
            <a:off x="265500" y="3144000"/>
            <a:ext cx="2386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2"/>
          </p:nvPr>
        </p:nvSpPr>
        <p:spPr>
          <a:xfrm>
            <a:off x="3972000" y="724075"/>
            <a:ext cx="48045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1829850" y="206502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AA5E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2AA5E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Char char="●"/>
              <a:defRPr sz="18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aulana-irfa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fafnir9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215700" y="859800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4000" b="1" dirty="0">
                <a:solidFill>
                  <a:srgbClr val="FFFFFF"/>
                </a:solidFill>
                <a:latin typeface="Angie" pitchFamily="50" charset="0"/>
                <a:ea typeface="Poppins"/>
                <a:cs typeface="Poppins"/>
                <a:sym typeface="Poppins"/>
              </a:rPr>
              <a:t>"</a:t>
            </a:r>
            <a:r>
              <a:rPr lang="id-ID" sz="4000" b="1" i="1" dirty="0" err="1">
                <a:solidFill>
                  <a:srgbClr val="FFFFFF"/>
                </a:solidFill>
                <a:latin typeface="Angie" pitchFamily="50" charset="0"/>
                <a:ea typeface="Poppins"/>
                <a:cs typeface="Poppins"/>
                <a:sym typeface="Poppins"/>
              </a:rPr>
              <a:t>Navigating</a:t>
            </a:r>
            <a:r>
              <a:rPr lang="id-ID" sz="4000" b="1" i="1" dirty="0">
                <a:solidFill>
                  <a:srgbClr val="FFFFFF"/>
                </a:solidFill>
                <a:latin typeface="Angie" pitchFamily="50" charset="0"/>
                <a:ea typeface="Poppins"/>
                <a:cs typeface="Poppins"/>
                <a:sym typeface="Poppins"/>
              </a:rPr>
              <a:t> </a:t>
            </a:r>
            <a:r>
              <a:rPr lang="id-ID" sz="4000" b="1" i="1" dirty="0" err="1">
                <a:solidFill>
                  <a:srgbClr val="FFFFFF"/>
                </a:solidFill>
                <a:latin typeface="Angie" pitchFamily="50" charset="0"/>
                <a:ea typeface="Poppins"/>
                <a:cs typeface="Poppins"/>
                <a:sym typeface="Poppins"/>
              </a:rPr>
              <a:t>the</a:t>
            </a:r>
            <a:r>
              <a:rPr lang="id-ID" sz="4000" b="1" i="1" dirty="0">
                <a:solidFill>
                  <a:srgbClr val="FFFFFF"/>
                </a:solidFill>
                <a:latin typeface="Angie" pitchFamily="50" charset="0"/>
                <a:ea typeface="Poppins"/>
                <a:cs typeface="Poppins"/>
                <a:sym typeface="Poppins"/>
              </a:rPr>
              <a:t> </a:t>
            </a:r>
            <a:r>
              <a:rPr lang="id-ID" sz="4000" b="1" i="1" dirty="0" err="1">
                <a:solidFill>
                  <a:srgbClr val="FFFFFF"/>
                </a:solidFill>
                <a:latin typeface="Angie" pitchFamily="50" charset="0"/>
                <a:ea typeface="Poppins"/>
                <a:cs typeface="Poppins"/>
                <a:sym typeface="Poppins"/>
              </a:rPr>
              <a:t>Pulse</a:t>
            </a:r>
            <a:r>
              <a:rPr lang="id-ID" sz="4000" b="1" i="1" dirty="0">
                <a:solidFill>
                  <a:srgbClr val="FFFFFF"/>
                </a:solidFill>
                <a:latin typeface="Angie" pitchFamily="50" charset="0"/>
                <a:ea typeface="Poppins"/>
                <a:cs typeface="Poppins"/>
                <a:sym typeface="Poppins"/>
              </a:rPr>
              <a:t> </a:t>
            </a:r>
            <a:r>
              <a:rPr lang="id-ID" sz="4000" b="1" i="1" dirty="0" err="1">
                <a:solidFill>
                  <a:srgbClr val="FFFFFF"/>
                </a:solidFill>
                <a:latin typeface="Angie" pitchFamily="50" charset="0"/>
                <a:ea typeface="Poppins"/>
                <a:cs typeface="Poppins"/>
                <a:sym typeface="Poppins"/>
              </a:rPr>
              <a:t>of</a:t>
            </a:r>
            <a:r>
              <a:rPr lang="id-ID" sz="4000" b="1" i="1" dirty="0">
                <a:solidFill>
                  <a:srgbClr val="FFFFFF"/>
                </a:solidFill>
                <a:latin typeface="Angie" pitchFamily="50" charset="0"/>
                <a:ea typeface="Poppins"/>
                <a:cs typeface="Poppins"/>
                <a:sym typeface="Poppins"/>
              </a:rPr>
              <a:t> Jakarta": </a:t>
            </a:r>
            <a:r>
              <a:rPr lang="id-ID" sz="4000" dirty="0">
                <a:solidFill>
                  <a:srgbClr val="C4F63B"/>
                </a:solidFill>
                <a:latin typeface="Angie" pitchFamily="50" charset="0"/>
                <a:ea typeface="Poppins"/>
                <a:cs typeface="Poppins"/>
                <a:sym typeface="Poppins"/>
              </a:rPr>
              <a:t>Mengungkap Pola Tersembunyi di Balik Jutaan Transaksi </a:t>
            </a:r>
            <a:r>
              <a:rPr lang="id-ID" sz="4000" dirty="0" err="1">
                <a:solidFill>
                  <a:srgbClr val="C4F63B"/>
                </a:solidFill>
                <a:latin typeface="Angie" pitchFamily="50" charset="0"/>
                <a:ea typeface="Poppins"/>
                <a:cs typeface="Poppins"/>
                <a:sym typeface="Poppins"/>
              </a:rPr>
              <a:t>Transjakarta</a:t>
            </a:r>
            <a:endParaRPr sz="4000" dirty="0">
              <a:solidFill>
                <a:srgbClr val="C4F63B"/>
              </a:solidFill>
              <a:latin typeface="Angie" pitchFamily="50" charset="0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215700" y="44436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solidFill>
                <a:srgbClr val="21212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215700" y="3731942"/>
            <a:ext cx="4356300" cy="10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id-ID" sz="2400" b="1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Irfan Maulana</a:t>
            </a:r>
            <a:endParaRPr lang="en" sz="2400" b="1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Data Analyst – Final Project Ms. Excel DQLab</a:t>
            </a:r>
            <a:endParaRPr b="1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>
            <a:spLocks noGrp="1"/>
          </p:cNvSpPr>
          <p:nvPr>
            <p:ph type="title"/>
          </p:nvPr>
        </p:nvSpPr>
        <p:spPr>
          <a:xfrm>
            <a:off x="1094033" y="325312"/>
            <a:ext cx="6984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dirty="0">
                <a:solidFill>
                  <a:srgbClr val="C4F63B"/>
                </a:solidFill>
              </a:rPr>
              <a:t>Business Overview </a:t>
            </a:r>
            <a:r>
              <a:rPr lang="en-US" dirty="0" err="1">
                <a:solidFill>
                  <a:srgbClr val="C4F63B"/>
                </a:solidFill>
              </a:rPr>
              <a:t>Transjakarta</a:t>
            </a:r>
            <a:endParaRPr dirty="0">
              <a:solidFill>
                <a:srgbClr val="C4F63B"/>
              </a:solidFill>
            </a:endParaRPr>
          </a:p>
        </p:txBody>
      </p:sp>
      <p:sp>
        <p:nvSpPr>
          <p:cNvPr id="2" name="Google Shape;51;p2">
            <a:extLst>
              <a:ext uri="{FF2B5EF4-FFF2-40B4-BE49-F238E27FC236}">
                <a16:creationId xmlns:a16="http://schemas.microsoft.com/office/drawing/2014/main" id="{4F30492D-4133-6883-E746-8E52FE54EAE9}"/>
              </a:ext>
            </a:extLst>
          </p:cNvPr>
          <p:cNvSpPr txBox="1">
            <a:spLocks/>
          </p:cNvSpPr>
          <p:nvPr/>
        </p:nvSpPr>
        <p:spPr>
          <a:xfrm>
            <a:off x="437780" y="1308361"/>
            <a:ext cx="8268439" cy="3256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"/>
              <a:buNone/>
              <a:defRPr sz="3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sz="2200" dirty="0" err="1">
                <a:solidFill>
                  <a:schemeClr val="bg1"/>
                </a:solidFill>
              </a:rPr>
              <a:t>Transjakarta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bukan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sekadar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moda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tranportasi</a:t>
            </a:r>
            <a:r>
              <a:rPr lang="en-US" sz="2200" b="0" dirty="0">
                <a:solidFill>
                  <a:schemeClr val="bg1"/>
                </a:solidFill>
              </a:rPr>
              <a:t>, </a:t>
            </a:r>
            <a:r>
              <a:rPr lang="en-US" sz="2200" b="0" dirty="0" err="1">
                <a:solidFill>
                  <a:schemeClr val="bg1"/>
                </a:solidFill>
              </a:rPr>
              <a:t>melainkan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urat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nadi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mobilitas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warga</a:t>
            </a:r>
            <a:r>
              <a:rPr lang="en-US" sz="2200" b="0" dirty="0">
                <a:solidFill>
                  <a:schemeClr val="bg1"/>
                </a:solidFill>
              </a:rPr>
              <a:t> Jakarta </a:t>
            </a:r>
            <a:r>
              <a:rPr lang="en-US" sz="2200" b="0" dirty="0" err="1">
                <a:solidFill>
                  <a:schemeClr val="bg1"/>
                </a:solidFill>
              </a:rPr>
              <a:t>dengan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jutaan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transaksi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harian</a:t>
            </a:r>
            <a:r>
              <a:rPr lang="en-US" sz="2200" b="0" dirty="0">
                <a:solidFill>
                  <a:schemeClr val="bg1"/>
                </a:solidFill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200" dirty="0" err="1">
                <a:solidFill>
                  <a:schemeClr val="bg1"/>
                </a:solidFill>
              </a:rPr>
              <a:t>Sistem</a:t>
            </a:r>
            <a:r>
              <a:rPr lang="en-US" sz="2200" dirty="0">
                <a:solidFill>
                  <a:schemeClr val="bg1"/>
                </a:solidFill>
              </a:rPr>
              <a:t> BRT </a:t>
            </a:r>
            <a:r>
              <a:rPr lang="en-US" sz="2200" b="0" dirty="0" err="1">
                <a:solidFill>
                  <a:schemeClr val="bg1"/>
                </a:solidFill>
              </a:rPr>
              <a:t>Terpanjang</a:t>
            </a:r>
            <a:r>
              <a:rPr lang="en-US" sz="2200" b="0" dirty="0">
                <a:solidFill>
                  <a:schemeClr val="bg1"/>
                </a:solidFill>
              </a:rPr>
              <a:t> di Dunia: </a:t>
            </a:r>
            <a:r>
              <a:rPr lang="en-US" sz="2200" b="0" dirty="0" err="1">
                <a:solidFill>
                  <a:schemeClr val="bg1"/>
                </a:solidFill>
              </a:rPr>
              <a:t>Transjakarta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bukan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sekadar</a:t>
            </a:r>
            <a:r>
              <a:rPr lang="en-US" sz="2200" b="0" dirty="0">
                <a:solidFill>
                  <a:schemeClr val="bg1"/>
                </a:solidFill>
              </a:rPr>
              <a:t> bus </a:t>
            </a:r>
            <a:r>
              <a:rPr lang="en-US" sz="2200" b="0" dirty="0" err="1">
                <a:solidFill>
                  <a:schemeClr val="bg1"/>
                </a:solidFill>
              </a:rPr>
              <a:t>kota</a:t>
            </a:r>
            <a:r>
              <a:rPr lang="en-US" sz="2200" b="0" dirty="0">
                <a:solidFill>
                  <a:schemeClr val="bg1"/>
                </a:solidFill>
              </a:rPr>
              <a:t>, </a:t>
            </a:r>
            <a:r>
              <a:rPr lang="en-US" sz="2200" b="0" dirty="0" err="1">
                <a:solidFill>
                  <a:schemeClr val="bg1"/>
                </a:solidFill>
              </a:rPr>
              <a:t>melainkan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sistem</a:t>
            </a:r>
            <a:r>
              <a:rPr lang="en-US" sz="2200" b="0" dirty="0">
                <a:solidFill>
                  <a:schemeClr val="bg1"/>
                </a:solidFill>
              </a:rPr>
              <a:t> Bus Rapid Transit (BRT) </a:t>
            </a:r>
            <a:r>
              <a:rPr lang="en-US" sz="2200" b="0" dirty="0" err="1">
                <a:solidFill>
                  <a:schemeClr val="bg1"/>
                </a:solidFill>
              </a:rPr>
              <a:t>dengan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lintasan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terpanjang</a:t>
            </a:r>
            <a:r>
              <a:rPr lang="en-US" sz="2200" b="0" dirty="0">
                <a:solidFill>
                  <a:schemeClr val="bg1"/>
                </a:solidFill>
              </a:rPr>
              <a:t> di dunia (</a:t>
            </a:r>
            <a:r>
              <a:rPr lang="en-US" sz="2200" b="0" dirty="0" err="1">
                <a:solidFill>
                  <a:schemeClr val="bg1"/>
                </a:solidFill>
              </a:rPr>
              <a:t>lebih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dari</a:t>
            </a:r>
            <a:r>
              <a:rPr lang="en-US" sz="2200" b="0" dirty="0">
                <a:solidFill>
                  <a:schemeClr val="bg1"/>
                </a:solidFill>
              </a:rPr>
              <a:t> 250 km).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200" dirty="0" err="1">
                <a:solidFill>
                  <a:schemeClr val="bg1"/>
                </a:solidFill>
              </a:rPr>
              <a:t>Ekosistem</a:t>
            </a:r>
            <a:r>
              <a:rPr lang="en-US" sz="2200" dirty="0">
                <a:solidFill>
                  <a:schemeClr val="bg1"/>
                </a:solidFill>
              </a:rPr>
              <a:t> Integrasi (</a:t>
            </a:r>
            <a:r>
              <a:rPr lang="en-US" sz="2200" dirty="0" err="1">
                <a:solidFill>
                  <a:schemeClr val="bg1"/>
                </a:solidFill>
              </a:rPr>
              <a:t>JakLingko</a:t>
            </a:r>
            <a:r>
              <a:rPr lang="en-US" sz="2200" dirty="0">
                <a:solidFill>
                  <a:schemeClr val="bg1"/>
                </a:solidFill>
              </a:rPr>
              <a:t>)</a:t>
            </a:r>
            <a:r>
              <a:rPr lang="en-US" sz="2200" b="0" dirty="0">
                <a:solidFill>
                  <a:schemeClr val="bg1"/>
                </a:solidFill>
              </a:rPr>
              <a:t>: Saat </a:t>
            </a:r>
            <a:r>
              <a:rPr lang="en-US" sz="2200" b="0" dirty="0" err="1">
                <a:solidFill>
                  <a:schemeClr val="bg1"/>
                </a:solidFill>
              </a:rPr>
              <a:t>ini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Transjakarta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telah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bertransformasi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menjadi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ekosistem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raksasa</a:t>
            </a:r>
            <a:r>
              <a:rPr lang="en-US" sz="2200" b="0" dirty="0">
                <a:solidFill>
                  <a:schemeClr val="bg1"/>
                </a:solidFill>
              </a:rPr>
              <a:t> di </a:t>
            </a:r>
            <a:r>
              <a:rPr lang="en-US" sz="2200" b="0" dirty="0" err="1">
                <a:solidFill>
                  <a:schemeClr val="bg1"/>
                </a:solidFill>
              </a:rPr>
              <a:t>bawah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payung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JakLingko</a:t>
            </a:r>
            <a:r>
              <a:rPr lang="en-US" sz="2200" b="0" dirty="0">
                <a:solidFill>
                  <a:schemeClr val="bg1"/>
                </a:solidFill>
              </a:rPr>
              <a:t>, yang </a:t>
            </a:r>
            <a:r>
              <a:rPr lang="en-US" sz="2200" b="0" dirty="0" err="1">
                <a:solidFill>
                  <a:schemeClr val="bg1"/>
                </a:solidFill>
              </a:rPr>
              <a:t>mengintegrasikan</a:t>
            </a:r>
            <a:r>
              <a:rPr lang="en-US" sz="2200" b="0" dirty="0">
                <a:solidFill>
                  <a:schemeClr val="bg1"/>
                </a:solidFill>
              </a:rPr>
              <a:t> Bus Besar (BRT), Bus Non-BRT, </a:t>
            </a:r>
            <a:r>
              <a:rPr lang="en-US" sz="2200" b="0" dirty="0" err="1">
                <a:solidFill>
                  <a:schemeClr val="bg1"/>
                </a:solidFill>
              </a:rPr>
              <a:t>hingga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angkutan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mikro</a:t>
            </a:r>
            <a:r>
              <a:rPr lang="en-US" sz="2200" b="0" dirty="0">
                <a:solidFill>
                  <a:schemeClr val="bg1"/>
                </a:solidFill>
              </a:rPr>
              <a:t> (</a:t>
            </a:r>
            <a:r>
              <a:rPr lang="en-US" sz="2200" b="0" dirty="0" err="1">
                <a:solidFill>
                  <a:schemeClr val="bg1"/>
                </a:solidFill>
              </a:rPr>
              <a:t>Mikrotrans</a:t>
            </a:r>
            <a:r>
              <a:rPr lang="en-US" sz="2200" b="0" dirty="0">
                <a:solidFill>
                  <a:schemeClr val="bg1"/>
                </a:solidFill>
              </a:rPr>
              <a:t>/</a:t>
            </a:r>
            <a:r>
              <a:rPr lang="en-US" sz="2200" b="0" dirty="0" err="1">
                <a:solidFill>
                  <a:schemeClr val="bg1"/>
                </a:solidFill>
              </a:rPr>
              <a:t>Angkot</a:t>
            </a:r>
            <a:r>
              <a:rPr lang="en-US" sz="2200" b="0" dirty="0">
                <a:solidFill>
                  <a:schemeClr val="bg1"/>
                </a:solidFill>
              </a:rPr>
              <a:t>) </a:t>
            </a:r>
            <a:r>
              <a:rPr lang="en-US" sz="2200" b="0" dirty="0" err="1">
                <a:solidFill>
                  <a:schemeClr val="bg1"/>
                </a:solidFill>
              </a:rPr>
              <a:t>dengan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satu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sistem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pembayaran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terpusat</a:t>
            </a:r>
            <a:r>
              <a:rPr lang="en-US" sz="2200" b="0" dirty="0">
                <a:solidFill>
                  <a:schemeClr val="bg1"/>
                </a:solidFill>
              </a:rPr>
              <a:t> (</a:t>
            </a:r>
            <a:r>
              <a:rPr lang="en-US" sz="2200" b="0" i="1" dirty="0">
                <a:solidFill>
                  <a:schemeClr val="bg1"/>
                </a:solidFill>
              </a:rPr>
              <a:t>cashless</a:t>
            </a:r>
            <a:r>
              <a:rPr lang="en-US" sz="2200" b="0" dirty="0">
                <a:solidFill>
                  <a:schemeClr val="bg1"/>
                </a:solidFill>
              </a:rPr>
              <a:t>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Volume </a:t>
            </a:r>
            <a:r>
              <a:rPr lang="en-US" sz="2200" dirty="0" err="1">
                <a:solidFill>
                  <a:schemeClr val="bg1"/>
                </a:solidFill>
              </a:rPr>
              <a:t>Masif</a:t>
            </a:r>
            <a:r>
              <a:rPr lang="en-US" sz="2200" b="0" dirty="0">
                <a:solidFill>
                  <a:schemeClr val="bg1"/>
                </a:solidFill>
              </a:rPr>
              <a:t>: </a:t>
            </a:r>
            <a:r>
              <a:rPr lang="en-US" sz="2200" b="0" dirty="0" err="1">
                <a:solidFill>
                  <a:schemeClr val="bg1"/>
                </a:solidFill>
              </a:rPr>
              <a:t>Melayani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jutaan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pelanggan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setiap</a:t>
            </a:r>
            <a:r>
              <a:rPr lang="en-US" sz="2200" b="0" dirty="0">
                <a:solidFill>
                  <a:schemeClr val="bg1"/>
                </a:solidFill>
              </a:rPr>
              <a:t> </a:t>
            </a:r>
            <a:r>
              <a:rPr lang="en-US" sz="2200" b="0" dirty="0" err="1">
                <a:solidFill>
                  <a:schemeClr val="bg1"/>
                </a:solidFill>
              </a:rPr>
              <a:t>harinya</a:t>
            </a:r>
            <a:r>
              <a:rPr lang="en-US" sz="2200" b="0" dirty="0">
                <a:solidFill>
                  <a:schemeClr val="bg1"/>
                </a:solidFill>
              </a:rPr>
              <a:t>, </a:t>
            </a:r>
            <a:r>
              <a:rPr lang="en-US" sz="2200" b="0" dirty="0" err="1">
                <a:solidFill>
                  <a:schemeClr val="bg1"/>
                </a:solidFill>
              </a:rPr>
              <a:t>menjadikan</a:t>
            </a:r>
            <a:r>
              <a:rPr lang="en-US" sz="2200" b="0" dirty="0">
                <a:solidFill>
                  <a:schemeClr val="bg1"/>
                </a:solidFill>
              </a:rPr>
              <a:t> data </a:t>
            </a:r>
            <a:r>
              <a:rPr lang="en-US" sz="2200" b="0" dirty="0" err="1">
                <a:solidFill>
                  <a:schemeClr val="bg1"/>
                </a:solidFill>
              </a:rPr>
              <a:t>transaksi</a:t>
            </a:r>
            <a:r>
              <a:rPr lang="en-US" sz="2200" b="0" dirty="0">
                <a:solidFill>
                  <a:schemeClr val="bg1"/>
                </a:solidFill>
              </a:rPr>
              <a:t> yang </a:t>
            </a:r>
            <a:r>
              <a:rPr lang="en-US" sz="2200" b="0" dirty="0" err="1">
                <a:solidFill>
                  <a:schemeClr val="bg1"/>
                </a:solidFill>
              </a:rPr>
              <a:t>dihasilkan</a:t>
            </a:r>
            <a:r>
              <a:rPr lang="en-US" sz="2200" b="0" dirty="0">
                <a:solidFill>
                  <a:schemeClr val="bg1"/>
                </a:solidFill>
              </a:rPr>
              <a:t> sangat </a:t>
            </a:r>
            <a:r>
              <a:rPr lang="en-US" sz="2200" b="0" dirty="0" err="1">
                <a:solidFill>
                  <a:schemeClr val="bg1"/>
                </a:solidFill>
              </a:rPr>
              <a:t>besar</a:t>
            </a:r>
            <a:r>
              <a:rPr lang="en-US" sz="2200" b="0" dirty="0">
                <a:solidFill>
                  <a:schemeClr val="bg1"/>
                </a:solidFill>
              </a:rPr>
              <a:t> (Big Data) dan </a:t>
            </a:r>
            <a:r>
              <a:rPr lang="en-US" sz="2200" b="0" dirty="0" err="1">
                <a:solidFill>
                  <a:schemeClr val="bg1"/>
                </a:solidFill>
              </a:rPr>
              <a:t>kompleks</a:t>
            </a:r>
            <a:r>
              <a:rPr lang="en-US" sz="2200" b="0" dirty="0">
                <a:solidFill>
                  <a:schemeClr val="bg1"/>
                </a:solidFill>
              </a:rPr>
              <a:t>.</a:t>
            </a:r>
          </a:p>
          <a:p>
            <a:pPr algn="l"/>
            <a:endParaRPr lang="en-US" sz="20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B272D9AC-57A6-2F48-EA1D-98927E7C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>
            <a:extLst>
              <a:ext uri="{FF2B5EF4-FFF2-40B4-BE49-F238E27FC236}">
                <a16:creationId xmlns:a16="http://schemas.microsoft.com/office/drawing/2014/main" id="{61EE8DB3-7EC5-8F4F-1EF6-8F1DB1AE40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4033" y="325312"/>
            <a:ext cx="6984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dirty="0">
                <a:solidFill>
                  <a:srgbClr val="C4F63B"/>
                </a:solidFill>
              </a:rPr>
              <a:t>Storytelling Dataset </a:t>
            </a:r>
            <a:r>
              <a:rPr lang="en-US" dirty="0" err="1">
                <a:solidFill>
                  <a:srgbClr val="C4F63B"/>
                </a:solidFill>
              </a:rPr>
              <a:t>Transjakarta</a:t>
            </a:r>
            <a:endParaRPr dirty="0">
              <a:solidFill>
                <a:srgbClr val="C4F63B"/>
              </a:solidFill>
            </a:endParaRPr>
          </a:p>
        </p:txBody>
      </p:sp>
      <p:sp>
        <p:nvSpPr>
          <p:cNvPr id="2" name="Google Shape;51;p2">
            <a:extLst>
              <a:ext uri="{FF2B5EF4-FFF2-40B4-BE49-F238E27FC236}">
                <a16:creationId xmlns:a16="http://schemas.microsoft.com/office/drawing/2014/main" id="{5E6D5207-8093-A0D2-A37B-65AB5EF6AEA9}"/>
              </a:ext>
            </a:extLst>
          </p:cNvPr>
          <p:cNvSpPr txBox="1">
            <a:spLocks/>
          </p:cNvSpPr>
          <p:nvPr/>
        </p:nvSpPr>
        <p:spPr>
          <a:xfrm>
            <a:off x="437780" y="1018479"/>
            <a:ext cx="8268439" cy="3546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"/>
              <a:buNone/>
              <a:defRPr sz="3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id-ID" sz="2000" b="0" dirty="0"/>
              <a:t>Setiap kali kartu ditempelkan di </a:t>
            </a:r>
            <a:r>
              <a:rPr lang="id-ID" sz="2000" b="0" dirty="0" err="1"/>
              <a:t>gate</a:t>
            </a:r>
            <a:r>
              <a:rPr lang="id-ID" sz="2000" b="0" dirty="0"/>
              <a:t> (Tap-In), itu bukan sekadar pembayaran tiket. Itu adalah jejak digital yang menceritakan kehidupan warga Jakarta.</a:t>
            </a:r>
            <a:endParaRPr lang="en-US" sz="2000" b="0" dirty="0"/>
          </a:p>
          <a:p>
            <a:pPr algn="l"/>
            <a:endParaRPr lang="en-US" sz="2000" b="0" dirty="0"/>
          </a:p>
          <a:p>
            <a:pPr algn="l"/>
            <a:r>
              <a:rPr lang="en-US" sz="2000" b="0" dirty="0">
                <a:solidFill>
                  <a:schemeClr val="bg1"/>
                </a:solidFill>
              </a:rPr>
              <a:t>Dataset </a:t>
            </a:r>
            <a:r>
              <a:rPr lang="en-US" sz="2000" b="0" dirty="0" err="1">
                <a:solidFill>
                  <a:schemeClr val="bg1"/>
                </a:solidFill>
              </a:rPr>
              <a:t>ini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merekam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aktivitas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penumpang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selama</a:t>
            </a:r>
            <a:r>
              <a:rPr lang="en-US" sz="2000" b="0" dirty="0">
                <a:solidFill>
                  <a:schemeClr val="bg1"/>
                </a:solidFill>
              </a:rPr>
              <a:t> 1 </a:t>
            </a:r>
            <a:r>
              <a:rPr lang="en-US" sz="2000" b="0" dirty="0" err="1">
                <a:solidFill>
                  <a:schemeClr val="bg1"/>
                </a:solidFill>
              </a:rPr>
              <a:t>bulan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penuh</a:t>
            </a:r>
            <a:r>
              <a:rPr lang="en-US" sz="2000" b="0" dirty="0">
                <a:solidFill>
                  <a:schemeClr val="bg1"/>
                </a:solidFill>
              </a:rPr>
              <a:t>, </a:t>
            </a:r>
            <a:r>
              <a:rPr lang="en-US" sz="2000" b="0" dirty="0" err="1">
                <a:solidFill>
                  <a:schemeClr val="bg1"/>
                </a:solidFill>
              </a:rPr>
              <a:t>mencakup</a:t>
            </a:r>
            <a:r>
              <a:rPr lang="en-US" sz="2000" b="0" dirty="0">
                <a:solidFill>
                  <a:schemeClr val="bg1"/>
                </a:solidFill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Siapa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mereka</a:t>
            </a:r>
            <a:r>
              <a:rPr lang="en-US" sz="2000" dirty="0">
                <a:solidFill>
                  <a:schemeClr val="bg1"/>
                </a:solidFill>
              </a:rPr>
              <a:t>? </a:t>
            </a:r>
            <a:r>
              <a:rPr lang="en-US" sz="2000" b="0" dirty="0">
                <a:solidFill>
                  <a:schemeClr val="bg1"/>
                </a:solidFill>
              </a:rPr>
              <a:t>(</a:t>
            </a:r>
            <a:r>
              <a:rPr lang="en-US" sz="2000" b="0" dirty="0" err="1">
                <a:solidFill>
                  <a:schemeClr val="bg1"/>
                </a:solidFill>
              </a:rPr>
              <a:t>Profil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demografi</a:t>
            </a:r>
            <a:r>
              <a:rPr lang="en-US" sz="2000" b="0" dirty="0">
                <a:solidFill>
                  <a:schemeClr val="bg1"/>
                </a:solidFill>
              </a:rPr>
              <a:t> &amp; </a:t>
            </a:r>
            <a:r>
              <a:rPr lang="en-US" sz="2000" b="0" dirty="0" err="1">
                <a:solidFill>
                  <a:schemeClr val="bg1"/>
                </a:solidFill>
              </a:rPr>
              <a:t>preferensi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pembayaran</a:t>
            </a:r>
            <a:r>
              <a:rPr lang="en-US" sz="2000" b="0" dirty="0">
                <a:solidFill>
                  <a:schemeClr val="bg1"/>
                </a:solidFill>
              </a:rPr>
              <a:t>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Kapan </a:t>
            </a:r>
            <a:r>
              <a:rPr lang="en-US" sz="2000" dirty="0" err="1">
                <a:solidFill>
                  <a:schemeClr val="bg1"/>
                </a:solidFill>
              </a:rPr>
              <a:t>mereka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bergerak</a:t>
            </a:r>
            <a:r>
              <a:rPr lang="en-US" sz="2000" dirty="0">
                <a:solidFill>
                  <a:schemeClr val="bg1"/>
                </a:solidFill>
              </a:rPr>
              <a:t>? </a:t>
            </a:r>
            <a:r>
              <a:rPr lang="en-US" sz="2000" b="0" dirty="0">
                <a:solidFill>
                  <a:schemeClr val="bg1"/>
                </a:solidFill>
              </a:rPr>
              <a:t>(Pola jam </a:t>
            </a:r>
            <a:r>
              <a:rPr lang="en-US" sz="2000" b="0" dirty="0" err="1">
                <a:solidFill>
                  <a:schemeClr val="bg1"/>
                </a:solidFill>
              </a:rPr>
              <a:t>sibuk</a:t>
            </a:r>
            <a:r>
              <a:rPr lang="en-US" sz="2000" b="0" dirty="0">
                <a:solidFill>
                  <a:schemeClr val="bg1"/>
                </a:solidFill>
              </a:rPr>
              <a:t> dan </a:t>
            </a:r>
            <a:r>
              <a:rPr lang="en-US" sz="2000" b="0" dirty="0" err="1">
                <a:solidFill>
                  <a:schemeClr val="bg1"/>
                </a:solidFill>
              </a:rPr>
              <a:t>hari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libur</a:t>
            </a:r>
            <a:r>
              <a:rPr lang="en-US" sz="2000" b="0" dirty="0">
                <a:solidFill>
                  <a:schemeClr val="bg1"/>
                </a:solidFill>
              </a:rPr>
              <a:t>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Ke mana </a:t>
            </a:r>
            <a:r>
              <a:rPr lang="en-US" sz="2000" dirty="0" err="1">
                <a:solidFill>
                  <a:schemeClr val="bg1"/>
                </a:solidFill>
              </a:rPr>
              <a:t>mereka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pergi</a:t>
            </a:r>
            <a:r>
              <a:rPr lang="en-US" sz="2000" dirty="0">
                <a:solidFill>
                  <a:schemeClr val="bg1"/>
                </a:solidFill>
              </a:rPr>
              <a:t>? </a:t>
            </a:r>
            <a:r>
              <a:rPr lang="en-US" sz="2000" b="0" dirty="0">
                <a:solidFill>
                  <a:schemeClr val="bg1"/>
                </a:solidFill>
              </a:rPr>
              <a:t>(Rute </a:t>
            </a:r>
            <a:r>
              <a:rPr lang="en-US" sz="2000" b="0" dirty="0" err="1">
                <a:solidFill>
                  <a:schemeClr val="bg1"/>
                </a:solidFill>
              </a:rPr>
              <a:t>favorit</a:t>
            </a:r>
            <a:r>
              <a:rPr lang="en-US" sz="2000" b="0" dirty="0">
                <a:solidFill>
                  <a:schemeClr val="bg1"/>
                </a:solidFill>
              </a:rPr>
              <a:t> dan </a:t>
            </a:r>
            <a:r>
              <a:rPr lang="en-US" sz="2000" b="0" dirty="0" err="1">
                <a:solidFill>
                  <a:schemeClr val="bg1"/>
                </a:solidFill>
              </a:rPr>
              <a:t>pusat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keramaian</a:t>
            </a:r>
            <a:r>
              <a:rPr lang="en-US" sz="2000" b="0" dirty="0">
                <a:solidFill>
                  <a:schemeClr val="bg1"/>
                </a:solidFill>
              </a:rPr>
              <a:t>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Berapa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nilai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ekonominya</a:t>
            </a:r>
            <a:r>
              <a:rPr lang="en-US" sz="2000" dirty="0">
                <a:solidFill>
                  <a:schemeClr val="bg1"/>
                </a:solidFill>
              </a:rPr>
              <a:t>? </a:t>
            </a:r>
            <a:r>
              <a:rPr lang="en-US" sz="2000" b="0" dirty="0">
                <a:solidFill>
                  <a:schemeClr val="bg1"/>
                </a:solidFill>
              </a:rPr>
              <a:t>(</a:t>
            </a:r>
            <a:r>
              <a:rPr lang="en-US" sz="2000" b="0" dirty="0" err="1">
                <a:solidFill>
                  <a:schemeClr val="bg1"/>
                </a:solidFill>
              </a:rPr>
              <a:t>Kontribusi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pendapatan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tiap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>
                <a:solidFill>
                  <a:schemeClr val="bg1"/>
                </a:solidFill>
              </a:rPr>
              <a:t>jamnya).</a:t>
            </a:r>
            <a:endParaRPr lang="en-US" sz="2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760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664B8032-FB56-CCC8-C38D-2084E0DDE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>
            <a:extLst>
              <a:ext uri="{FF2B5EF4-FFF2-40B4-BE49-F238E27FC236}">
                <a16:creationId xmlns:a16="http://schemas.microsoft.com/office/drawing/2014/main" id="{DCD89F66-6C2A-44DA-A5D1-A00E62795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9997" y="392220"/>
            <a:ext cx="6984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dirty="0">
                <a:solidFill>
                  <a:srgbClr val="C4F63B"/>
                </a:solidFill>
              </a:rPr>
              <a:t>Misi </a:t>
            </a:r>
            <a:r>
              <a:rPr lang="en-US" dirty="0" err="1">
                <a:solidFill>
                  <a:srgbClr val="C4F63B"/>
                </a:solidFill>
              </a:rPr>
              <a:t>utama</a:t>
            </a:r>
            <a:r>
              <a:rPr lang="en-US" dirty="0">
                <a:solidFill>
                  <a:srgbClr val="C4F63B"/>
                </a:solidFill>
              </a:rPr>
              <a:t> </a:t>
            </a:r>
            <a:r>
              <a:rPr lang="en-US" dirty="0" err="1">
                <a:solidFill>
                  <a:srgbClr val="C4F63B"/>
                </a:solidFill>
              </a:rPr>
              <a:t>dalam</a:t>
            </a:r>
            <a:r>
              <a:rPr lang="en-US" dirty="0">
                <a:solidFill>
                  <a:srgbClr val="C4F63B"/>
                </a:solidFill>
              </a:rPr>
              <a:t> </a:t>
            </a:r>
            <a:r>
              <a:rPr lang="en-US" dirty="0" err="1">
                <a:solidFill>
                  <a:srgbClr val="C4F63B"/>
                </a:solidFill>
              </a:rPr>
              <a:t>proyek</a:t>
            </a:r>
            <a:r>
              <a:rPr lang="en-US" dirty="0">
                <a:solidFill>
                  <a:srgbClr val="C4F63B"/>
                </a:solidFill>
              </a:rPr>
              <a:t> </a:t>
            </a:r>
            <a:r>
              <a:rPr lang="en-US" dirty="0" err="1">
                <a:solidFill>
                  <a:srgbClr val="C4F63B"/>
                </a:solidFill>
              </a:rPr>
              <a:t>ini</a:t>
            </a:r>
            <a:r>
              <a:rPr lang="en-US" dirty="0">
                <a:solidFill>
                  <a:srgbClr val="C4F63B"/>
                </a:solidFill>
              </a:rPr>
              <a:t>:</a:t>
            </a:r>
            <a:endParaRPr dirty="0">
              <a:solidFill>
                <a:srgbClr val="C4F63B"/>
              </a:solidFill>
            </a:endParaRPr>
          </a:p>
        </p:txBody>
      </p:sp>
      <p:sp>
        <p:nvSpPr>
          <p:cNvPr id="2" name="Google Shape;51;p2">
            <a:extLst>
              <a:ext uri="{FF2B5EF4-FFF2-40B4-BE49-F238E27FC236}">
                <a16:creationId xmlns:a16="http://schemas.microsoft.com/office/drawing/2014/main" id="{8C307028-1857-B83C-D93F-4D15431DCF74}"/>
              </a:ext>
            </a:extLst>
          </p:cNvPr>
          <p:cNvSpPr txBox="1">
            <a:spLocks/>
          </p:cNvSpPr>
          <p:nvPr/>
        </p:nvSpPr>
        <p:spPr>
          <a:xfrm>
            <a:off x="437778" y="1092771"/>
            <a:ext cx="8268439" cy="2215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"/>
              <a:buNone/>
              <a:defRPr sz="3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2000" b="0" dirty="0">
                <a:solidFill>
                  <a:schemeClr val="bg1"/>
                </a:solidFill>
              </a:rPr>
              <a:t>Tujuan </a:t>
            </a:r>
            <a:r>
              <a:rPr lang="en-US" sz="2000" b="0" dirty="0" err="1">
                <a:solidFill>
                  <a:schemeClr val="bg1"/>
                </a:solidFill>
              </a:rPr>
              <a:t>dari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analisis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ini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dirangkum</a:t>
            </a:r>
            <a:r>
              <a:rPr lang="en-US" sz="2000" b="0" dirty="0">
                <a:solidFill>
                  <a:schemeClr val="bg1"/>
                </a:solidFill>
              </a:rPr>
              <a:t> </a:t>
            </a:r>
            <a:r>
              <a:rPr lang="en-US" sz="2000" b="0" dirty="0" err="1">
                <a:solidFill>
                  <a:schemeClr val="bg1"/>
                </a:solidFill>
              </a:rPr>
              <a:t>dalam</a:t>
            </a:r>
            <a:r>
              <a:rPr lang="en-US" sz="2000" b="0" dirty="0">
                <a:solidFill>
                  <a:schemeClr val="bg1"/>
                </a:solidFill>
              </a:rPr>
              <a:t> 3 Pilar </a:t>
            </a:r>
            <a:r>
              <a:rPr lang="en-US" sz="2000" b="0" dirty="0" err="1">
                <a:solidFill>
                  <a:schemeClr val="bg1"/>
                </a:solidFill>
              </a:rPr>
              <a:t>Strategis</a:t>
            </a:r>
            <a:r>
              <a:rPr lang="en-US" sz="2000" b="0" dirty="0">
                <a:solidFill>
                  <a:schemeClr val="bg1"/>
                </a:solidFill>
              </a:rPr>
              <a:t>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bg1"/>
                </a:solidFill>
              </a:rPr>
              <a:t>Revenue Optimization: </a:t>
            </a:r>
            <a:r>
              <a:rPr lang="en-US" sz="1800" b="0" dirty="0" err="1">
                <a:solidFill>
                  <a:schemeClr val="bg1"/>
                </a:solidFill>
              </a:rPr>
              <a:t>Mengidentifikasi</a:t>
            </a:r>
            <a:r>
              <a:rPr lang="en-US" sz="1800" b="0" dirty="0">
                <a:solidFill>
                  <a:schemeClr val="bg1"/>
                </a:solidFill>
              </a:rPr>
              <a:t> </a:t>
            </a:r>
            <a:r>
              <a:rPr lang="en-US" sz="1800" b="0" dirty="0" err="1">
                <a:solidFill>
                  <a:schemeClr val="bg1"/>
                </a:solidFill>
              </a:rPr>
              <a:t>sumber</a:t>
            </a:r>
            <a:r>
              <a:rPr lang="en-US" sz="1800" b="0" dirty="0">
                <a:solidFill>
                  <a:schemeClr val="bg1"/>
                </a:solidFill>
              </a:rPr>
              <a:t> </a:t>
            </a:r>
            <a:r>
              <a:rPr lang="en-US" sz="1800" b="0" dirty="0" err="1">
                <a:solidFill>
                  <a:schemeClr val="bg1"/>
                </a:solidFill>
              </a:rPr>
              <a:t>pendapatan</a:t>
            </a:r>
            <a:r>
              <a:rPr lang="en-US" sz="1800" b="0" dirty="0">
                <a:solidFill>
                  <a:schemeClr val="bg1"/>
                </a:solidFill>
              </a:rPr>
              <a:t> </a:t>
            </a:r>
            <a:r>
              <a:rPr lang="en-US" sz="1800" b="0" dirty="0" err="1">
                <a:solidFill>
                  <a:schemeClr val="bg1"/>
                </a:solidFill>
              </a:rPr>
              <a:t>utama</a:t>
            </a:r>
            <a:r>
              <a:rPr lang="en-US" sz="1800" b="0" dirty="0">
                <a:solidFill>
                  <a:schemeClr val="bg1"/>
                </a:solidFill>
              </a:rPr>
              <a:t> dan </a:t>
            </a:r>
            <a:r>
              <a:rPr lang="en-US" sz="1800" b="0" dirty="0" err="1">
                <a:solidFill>
                  <a:schemeClr val="bg1"/>
                </a:solidFill>
              </a:rPr>
              <a:t>memvalidasi</a:t>
            </a:r>
            <a:r>
              <a:rPr lang="en-US" sz="1800" b="0" dirty="0">
                <a:solidFill>
                  <a:schemeClr val="bg1"/>
                </a:solidFill>
              </a:rPr>
              <a:t> Hukum Pareto (80/20) </a:t>
            </a:r>
            <a:r>
              <a:rPr lang="en-US" sz="1800" b="0" dirty="0" err="1">
                <a:solidFill>
                  <a:schemeClr val="bg1"/>
                </a:solidFill>
              </a:rPr>
              <a:t>dalam</a:t>
            </a:r>
            <a:r>
              <a:rPr lang="en-US" sz="1800" b="0" dirty="0">
                <a:solidFill>
                  <a:schemeClr val="bg1"/>
                </a:solidFill>
              </a:rPr>
              <a:t> </a:t>
            </a:r>
            <a:r>
              <a:rPr lang="en-US" sz="1800" b="0" dirty="0" err="1">
                <a:solidFill>
                  <a:schemeClr val="bg1"/>
                </a:solidFill>
              </a:rPr>
              <a:t>operasional.Operational</a:t>
            </a:r>
            <a:r>
              <a:rPr lang="en-US" sz="1800" b="0" dirty="0">
                <a:solidFill>
                  <a:schemeClr val="bg1"/>
                </a:solidFill>
              </a:rPr>
              <a:t> Excellence: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b="0" dirty="0" err="1">
                <a:solidFill>
                  <a:schemeClr val="bg1"/>
                </a:solidFill>
              </a:rPr>
              <a:t>Menyesuaikan</a:t>
            </a:r>
            <a:r>
              <a:rPr lang="en-US" sz="1800" b="0" dirty="0">
                <a:solidFill>
                  <a:schemeClr val="bg1"/>
                </a:solidFill>
              </a:rPr>
              <a:t> </a:t>
            </a:r>
            <a:r>
              <a:rPr lang="en-US" sz="1800" b="0" dirty="0" err="1">
                <a:solidFill>
                  <a:schemeClr val="bg1"/>
                </a:solidFill>
              </a:rPr>
              <a:t>jadwal</a:t>
            </a:r>
            <a:r>
              <a:rPr lang="en-US" sz="1800" b="0" dirty="0">
                <a:solidFill>
                  <a:schemeClr val="bg1"/>
                </a:solidFill>
              </a:rPr>
              <a:t> armada </a:t>
            </a:r>
            <a:r>
              <a:rPr lang="en-US" sz="1800" b="0" dirty="0" err="1">
                <a:solidFill>
                  <a:schemeClr val="bg1"/>
                </a:solidFill>
              </a:rPr>
              <a:t>berdasarkan</a:t>
            </a:r>
            <a:r>
              <a:rPr lang="en-US" sz="1800" b="0" dirty="0">
                <a:solidFill>
                  <a:schemeClr val="bg1"/>
                </a:solidFill>
              </a:rPr>
              <a:t> data Peak Hour yang </a:t>
            </a:r>
            <a:r>
              <a:rPr lang="en-US" sz="1800" b="0" dirty="0" err="1">
                <a:solidFill>
                  <a:schemeClr val="bg1"/>
                </a:solidFill>
              </a:rPr>
              <a:t>akurat</a:t>
            </a:r>
            <a:r>
              <a:rPr lang="en-US" sz="1800" b="0" dirty="0">
                <a:solidFill>
                  <a:schemeClr val="bg1"/>
                </a:solidFill>
              </a:rPr>
              <a:t> (</a:t>
            </a:r>
            <a:r>
              <a:rPr lang="en-US" sz="1800" b="0" dirty="0" err="1">
                <a:solidFill>
                  <a:schemeClr val="bg1"/>
                </a:solidFill>
              </a:rPr>
              <a:t>bukan</a:t>
            </a:r>
            <a:r>
              <a:rPr lang="en-US" sz="1800" b="0" dirty="0">
                <a:solidFill>
                  <a:schemeClr val="bg1"/>
                </a:solidFill>
              </a:rPr>
              <a:t> </a:t>
            </a:r>
            <a:r>
              <a:rPr lang="en-US" sz="1800" b="0" dirty="0" err="1">
                <a:solidFill>
                  <a:schemeClr val="bg1"/>
                </a:solidFill>
              </a:rPr>
              <a:t>sekadar</a:t>
            </a:r>
            <a:r>
              <a:rPr lang="en-US" sz="1800" b="0" dirty="0">
                <a:solidFill>
                  <a:schemeClr val="bg1"/>
                </a:solidFill>
              </a:rPr>
              <a:t> </a:t>
            </a:r>
            <a:r>
              <a:rPr lang="en-US" sz="1800" b="0" dirty="0" err="1">
                <a:solidFill>
                  <a:schemeClr val="bg1"/>
                </a:solidFill>
              </a:rPr>
              <a:t>intuisi</a:t>
            </a:r>
            <a:r>
              <a:rPr lang="en-US" sz="1800" b="0" dirty="0">
                <a:solidFill>
                  <a:schemeClr val="bg1"/>
                </a:solidFill>
              </a:rPr>
              <a:t>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bg1"/>
                </a:solidFill>
              </a:rPr>
              <a:t>Customer Centricity: </a:t>
            </a:r>
            <a:r>
              <a:rPr lang="en-US" sz="1800" b="0" dirty="0" err="1">
                <a:solidFill>
                  <a:schemeClr val="bg1"/>
                </a:solidFill>
              </a:rPr>
              <a:t>Memahami</a:t>
            </a:r>
            <a:r>
              <a:rPr lang="en-US" sz="1800" b="0" dirty="0">
                <a:solidFill>
                  <a:schemeClr val="bg1"/>
                </a:solidFill>
              </a:rPr>
              <a:t> </a:t>
            </a:r>
            <a:r>
              <a:rPr lang="en-US" sz="1800" b="0" dirty="0" err="1">
                <a:solidFill>
                  <a:schemeClr val="bg1"/>
                </a:solidFill>
              </a:rPr>
              <a:t>profil</a:t>
            </a:r>
            <a:r>
              <a:rPr lang="en-US" sz="1800" b="0" dirty="0">
                <a:solidFill>
                  <a:schemeClr val="bg1"/>
                </a:solidFill>
              </a:rPr>
              <a:t> </a:t>
            </a:r>
            <a:r>
              <a:rPr lang="en-US" sz="1800" b="0" dirty="0" err="1">
                <a:solidFill>
                  <a:schemeClr val="bg1"/>
                </a:solidFill>
              </a:rPr>
              <a:t>penumpang</a:t>
            </a:r>
            <a:r>
              <a:rPr lang="en-US" sz="1800" b="0" dirty="0">
                <a:solidFill>
                  <a:schemeClr val="bg1"/>
                </a:solidFill>
              </a:rPr>
              <a:t> (</a:t>
            </a:r>
            <a:r>
              <a:rPr lang="en-US" sz="1800" b="0" dirty="0" err="1">
                <a:solidFill>
                  <a:schemeClr val="bg1"/>
                </a:solidFill>
              </a:rPr>
              <a:t>Generasi</a:t>
            </a:r>
            <a:r>
              <a:rPr lang="en-US" sz="1800" b="0" dirty="0">
                <a:solidFill>
                  <a:schemeClr val="bg1"/>
                </a:solidFill>
              </a:rPr>
              <a:t> &amp; Bank) </a:t>
            </a:r>
            <a:r>
              <a:rPr lang="en-US" sz="1800" b="0" dirty="0" err="1">
                <a:solidFill>
                  <a:schemeClr val="bg1"/>
                </a:solidFill>
              </a:rPr>
              <a:t>untuk</a:t>
            </a:r>
            <a:r>
              <a:rPr lang="en-US" sz="1800" b="0" dirty="0">
                <a:solidFill>
                  <a:schemeClr val="bg1"/>
                </a:solidFill>
              </a:rPr>
              <a:t> strategi </a:t>
            </a:r>
            <a:r>
              <a:rPr lang="en-US" sz="1800" b="0" dirty="0" err="1">
                <a:solidFill>
                  <a:schemeClr val="bg1"/>
                </a:solidFill>
              </a:rPr>
              <a:t>kemitraan</a:t>
            </a:r>
            <a:r>
              <a:rPr lang="en-US" sz="1800" b="0" dirty="0">
                <a:solidFill>
                  <a:schemeClr val="bg1"/>
                </a:solidFill>
              </a:rPr>
              <a:t> dan </a:t>
            </a:r>
            <a:r>
              <a:rPr lang="en-US" sz="1800" b="0" dirty="0" err="1">
                <a:solidFill>
                  <a:schemeClr val="bg1"/>
                </a:solidFill>
              </a:rPr>
              <a:t>promosi</a:t>
            </a:r>
            <a:r>
              <a:rPr lang="en-US" sz="1800" b="0" dirty="0">
                <a:solidFill>
                  <a:schemeClr val="bg1"/>
                </a:solidFill>
              </a:rPr>
              <a:t> yang </a:t>
            </a:r>
            <a:r>
              <a:rPr lang="en-US" sz="1800" b="0" dirty="0" err="1">
                <a:solidFill>
                  <a:schemeClr val="bg1"/>
                </a:solidFill>
              </a:rPr>
              <a:t>lebih</a:t>
            </a:r>
            <a:r>
              <a:rPr lang="en-US" sz="1800" b="0" dirty="0">
                <a:solidFill>
                  <a:schemeClr val="bg1"/>
                </a:solidFill>
              </a:rPr>
              <a:t> personal.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07361-8043-31E1-AB83-664C2EBB7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284" y="3053741"/>
            <a:ext cx="1761428" cy="176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29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C3F314E4-76D6-A71C-137E-F381C5E48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>
            <a:extLst>
              <a:ext uri="{FF2B5EF4-FFF2-40B4-BE49-F238E27FC236}">
                <a16:creationId xmlns:a16="http://schemas.microsoft.com/office/drawing/2014/main" id="{AFEFE40F-17AC-C03B-81F2-A913EBC24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0000" y="222280"/>
            <a:ext cx="6984000" cy="70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dirty="0">
                <a:solidFill>
                  <a:srgbClr val="C4F63B"/>
                </a:solidFill>
              </a:rPr>
              <a:t>Data Preparation</a:t>
            </a:r>
            <a:endParaRPr dirty="0">
              <a:solidFill>
                <a:srgbClr val="C4F63B"/>
              </a:solidFill>
            </a:endParaRPr>
          </a:p>
        </p:txBody>
      </p:sp>
      <p:sp>
        <p:nvSpPr>
          <p:cNvPr id="2" name="Google Shape;51;p2">
            <a:extLst>
              <a:ext uri="{FF2B5EF4-FFF2-40B4-BE49-F238E27FC236}">
                <a16:creationId xmlns:a16="http://schemas.microsoft.com/office/drawing/2014/main" id="{58804A41-0DB7-0C8D-2D2E-42DBA00876AC}"/>
              </a:ext>
            </a:extLst>
          </p:cNvPr>
          <p:cNvSpPr txBox="1">
            <a:spLocks/>
          </p:cNvSpPr>
          <p:nvPr/>
        </p:nvSpPr>
        <p:spPr>
          <a:xfrm>
            <a:off x="519555" y="922831"/>
            <a:ext cx="8268439" cy="70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"/>
              <a:buNone/>
              <a:defRPr sz="3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0" dirty="0" err="1">
                <a:solidFill>
                  <a:schemeClr val="bg1"/>
                </a:solidFill>
              </a:rPr>
              <a:t>Sebelum</a:t>
            </a:r>
            <a:r>
              <a:rPr lang="en-US" sz="1200" b="0" dirty="0">
                <a:solidFill>
                  <a:schemeClr val="bg1"/>
                </a:solidFill>
              </a:rPr>
              <a:t> </a:t>
            </a:r>
            <a:r>
              <a:rPr lang="en-US" sz="1200" b="0" dirty="0" err="1">
                <a:solidFill>
                  <a:schemeClr val="bg1"/>
                </a:solidFill>
              </a:rPr>
              <a:t>mulai</a:t>
            </a:r>
            <a:r>
              <a:rPr lang="en-US" sz="1200" b="0" dirty="0">
                <a:solidFill>
                  <a:schemeClr val="bg1"/>
                </a:solidFill>
              </a:rPr>
              <a:t> </a:t>
            </a:r>
            <a:r>
              <a:rPr lang="en-US" sz="1200" b="0" dirty="0" err="1">
                <a:solidFill>
                  <a:schemeClr val="bg1"/>
                </a:solidFill>
              </a:rPr>
              <a:t>melakukan</a:t>
            </a:r>
            <a:r>
              <a:rPr lang="en-US" sz="1200" b="0" dirty="0">
                <a:solidFill>
                  <a:schemeClr val="bg1"/>
                </a:solidFill>
              </a:rPr>
              <a:t> </a:t>
            </a:r>
            <a:r>
              <a:rPr lang="en-US" sz="1200" b="0" dirty="0" err="1">
                <a:solidFill>
                  <a:schemeClr val="bg1"/>
                </a:solidFill>
              </a:rPr>
              <a:t>analisis</a:t>
            </a:r>
            <a:r>
              <a:rPr lang="en-US" sz="1200" b="0" dirty="0">
                <a:solidFill>
                  <a:schemeClr val="bg1"/>
                </a:solidFill>
              </a:rPr>
              <a:t>, </a:t>
            </a:r>
            <a:r>
              <a:rPr lang="en-US" sz="1200" b="0" dirty="0" err="1">
                <a:solidFill>
                  <a:schemeClr val="bg1"/>
                </a:solidFill>
              </a:rPr>
              <a:t>terlebih</a:t>
            </a:r>
            <a:r>
              <a:rPr lang="en-US" sz="1200" b="0" dirty="0">
                <a:solidFill>
                  <a:schemeClr val="bg1"/>
                </a:solidFill>
              </a:rPr>
              <a:t> </a:t>
            </a:r>
            <a:r>
              <a:rPr lang="en-US" sz="1200" b="0" dirty="0" err="1">
                <a:solidFill>
                  <a:schemeClr val="bg1"/>
                </a:solidFill>
              </a:rPr>
              <a:t>dahulu</a:t>
            </a:r>
            <a:r>
              <a:rPr lang="en-US" sz="1200" b="0" dirty="0">
                <a:solidFill>
                  <a:schemeClr val="bg1"/>
                </a:solidFill>
              </a:rPr>
              <a:t> </a:t>
            </a:r>
            <a:r>
              <a:rPr lang="en-US" sz="1200" b="0" dirty="0" err="1">
                <a:solidFill>
                  <a:schemeClr val="bg1"/>
                </a:solidFill>
              </a:rPr>
              <a:t>dilakukan</a:t>
            </a:r>
            <a:r>
              <a:rPr lang="en-US" sz="1200" b="0" dirty="0">
                <a:solidFill>
                  <a:schemeClr val="bg1"/>
                </a:solidFill>
              </a:rPr>
              <a:t> yang </a:t>
            </a:r>
            <a:r>
              <a:rPr lang="en-US" sz="1200" b="0" dirty="0" err="1">
                <a:solidFill>
                  <a:schemeClr val="bg1"/>
                </a:solidFill>
              </a:rPr>
              <a:t>namanya</a:t>
            </a:r>
            <a:r>
              <a:rPr lang="en-US" sz="1200" b="0" dirty="0">
                <a:solidFill>
                  <a:schemeClr val="bg1"/>
                </a:solidFill>
              </a:rPr>
              <a:t> data </a:t>
            </a:r>
            <a:r>
              <a:rPr lang="en-US" sz="1200" b="0" i="1" dirty="0">
                <a:solidFill>
                  <a:schemeClr val="bg1"/>
                </a:solidFill>
              </a:rPr>
              <a:t>preparation</a:t>
            </a:r>
            <a:r>
              <a:rPr lang="en-US" sz="1200" b="0" dirty="0">
                <a:solidFill>
                  <a:schemeClr val="bg1"/>
                </a:solidFill>
              </a:rPr>
              <a:t> agar </a:t>
            </a:r>
            <a:r>
              <a:rPr lang="en-US" sz="1200" b="0" dirty="0" err="1">
                <a:solidFill>
                  <a:schemeClr val="bg1"/>
                </a:solidFill>
              </a:rPr>
              <a:t>memudahkan</a:t>
            </a:r>
            <a:r>
              <a:rPr lang="en-US" sz="1200" b="0" dirty="0">
                <a:solidFill>
                  <a:schemeClr val="bg1"/>
                </a:solidFill>
              </a:rPr>
              <a:t> proses </a:t>
            </a:r>
            <a:r>
              <a:rPr lang="en-US" sz="1200" b="0" dirty="0" err="1">
                <a:solidFill>
                  <a:schemeClr val="bg1"/>
                </a:solidFill>
              </a:rPr>
              <a:t>analisis</a:t>
            </a:r>
            <a:r>
              <a:rPr lang="en-US" sz="1200" b="0" dirty="0">
                <a:solidFill>
                  <a:schemeClr val="bg1"/>
                </a:solidFill>
              </a:rPr>
              <a:t>. Dari dataset </a:t>
            </a:r>
            <a:r>
              <a:rPr lang="en-US" sz="1200" b="0" dirty="0" err="1">
                <a:solidFill>
                  <a:schemeClr val="bg1"/>
                </a:solidFill>
              </a:rPr>
              <a:t>ini</a:t>
            </a:r>
            <a:r>
              <a:rPr lang="en-US" sz="1200" b="0" dirty="0">
                <a:solidFill>
                  <a:schemeClr val="bg1"/>
                </a:solidFill>
              </a:rPr>
              <a:t> </a:t>
            </a:r>
            <a:r>
              <a:rPr lang="en-US" sz="1200" b="0" dirty="0" err="1">
                <a:solidFill>
                  <a:schemeClr val="bg1"/>
                </a:solidFill>
              </a:rPr>
              <a:t>dilakukan</a:t>
            </a:r>
            <a:r>
              <a:rPr lang="en-US" sz="1200" b="0" dirty="0">
                <a:solidFill>
                  <a:schemeClr val="bg1"/>
                </a:solidFill>
              </a:rPr>
              <a:t> dua proses </a:t>
            </a:r>
            <a:r>
              <a:rPr lang="en-US" sz="1200" b="0" dirty="0" err="1">
                <a:solidFill>
                  <a:schemeClr val="bg1"/>
                </a:solidFill>
              </a:rPr>
              <a:t>yaitu</a:t>
            </a:r>
            <a:r>
              <a:rPr lang="en-US" sz="1200" b="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Proses Data Cleaning </a:t>
            </a:r>
            <a:r>
              <a:rPr lang="en-US" sz="1200" b="0" dirty="0">
                <a:solidFill>
                  <a:schemeClr val="bg1"/>
                </a:solidFill>
              </a:rPr>
              <a:t>dan</a:t>
            </a:r>
            <a:r>
              <a:rPr lang="en-US" sz="1200" dirty="0">
                <a:solidFill>
                  <a:schemeClr val="bg1"/>
                </a:solidFill>
              </a:rPr>
              <a:t> Data Proses di Power Query</a:t>
            </a:r>
            <a:endParaRPr lang="en-US" sz="1100" b="0" dirty="0">
              <a:solidFill>
                <a:schemeClr val="bg1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B070EF-00CB-77A1-94E4-0F607EA1A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55" y="1741867"/>
            <a:ext cx="3679903" cy="201966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AE3C8FA-D1DE-E33F-C3CB-FB5BE7C6497F}"/>
              </a:ext>
            </a:extLst>
          </p:cNvPr>
          <p:cNvSpPr/>
          <p:nvPr/>
        </p:nvSpPr>
        <p:spPr>
          <a:xfrm>
            <a:off x="4441900" y="2632426"/>
            <a:ext cx="423747" cy="324696"/>
          </a:xfrm>
          <a:prstGeom prst="rightArrow">
            <a:avLst/>
          </a:prstGeom>
          <a:solidFill>
            <a:srgbClr val="C4F6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259D81-BD12-EC69-09FE-B2C9D2A89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089" y="1741867"/>
            <a:ext cx="3597293" cy="201966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Google Shape;51;p2">
            <a:extLst>
              <a:ext uri="{FF2B5EF4-FFF2-40B4-BE49-F238E27FC236}">
                <a16:creationId xmlns:a16="http://schemas.microsoft.com/office/drawing/2014/main" id="{CB476DC5-F40E-72F7-30A3-79A25C40E33B}"/>
              </a:ext>
            </a:extLst>
          </p:cNvPr>
          <p:cNvSpPr txBox="1">
            <a:spLocks/>
          </p:cNvSpPr>
          <p:nvPr/>
        </p:nvSpPr>
        <p:spPr>
          <a:xfrm>
            <a:off x="519555" y="3966166"/>
            <a:ext cx="3922345" cy="70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"/>
              <a:buNone/>
              <a:defRPr sz="3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</a:rPr>
              <a:t>Data Cleaning</a:t>
            </a:r>
          </a:p>
          <a:p>
            <a:r>
              <a:rPr lang="en-US" sz="1100" b="0" dirty="0" err="1">
                <a:solidFill>
                  <a:schemeClr val="bg1"/>
                </a:solidFill>
              </a:rPr>
              <a:t>Membersihkan</a:t>
            </a:r>
            <a:r>
              <a:rPr lang="en-US" sz="1100" b="0" dirty="0">
                <a:solidFill>
                  <a:schemeClr val="bg1"/>
                </a:solidFill>
              </a:rPr>
              <a:t> </a:t>
            </a:r>
            <a:r>
              <a:rPr lang="en-US" sz="1100" b="0" dirty="0" err="1">
                <a:solidFill>
                  <a:schemeClr val="bg1"/>
                </a:solidFill>
              </a:rPr>
              <a:t>setiap</a:t>
            </a:r>
            <a:r>
              <a:rPr lang="en-US" sz="1100" b="0" dirty="0">
                <a:solidFill>
                  <a:schemeClr val="bg1"/>
                </a:solidFill>
              </a:rPr>
              <a:t> data </a:t>
            </a:r>
            <a:r>
              <a:rPr lang="en-US" sz="1100" b="0" dirty="0" err="1">
                <a:solidFill>
                  <a:schemeClr val="bg1"/>
                </a:solidFill>
              </a:rPr>
              <a:t>dari</a:t>
            </a:r>
            <a:r>
              <a:rPr lang="en-US" sz="1100" b="0" dirty="0">
                <a:solidFill>
                  <a:schemeClr val="bg1"/>
                </a:solidFill>
              </a:rPr>
              <a:t> </a:t>
            </a:r>
            <a:r>
              <a:rPr lang="en-US" sz="1100" b="0" dirty="0" err="1">
                <a:solidFill>
                  <a:schemeClr val="bg1"/>
                </a:solidFill>
              </a:rPr>
              <a:t>duplikasi</a:t>
            </a:r>
            <a:r>
              <a:rPr lang="en-US" sz="1100" b="0" dirty="0">
                <a:solidFill>
                  <a:schemeClr val="bg1"/>
                </a:solidFill>
              </a:rPr>
              <a:t>, </a:t>
            </a:r>
            <a:r>
              <a:rPr lang="en-US" sz="1100" b="0" dirty="0" err="1">
                <a:solidFill>
                  <a:schemeClr val="bg1"/>
                </a:solidFill>
              </a:rPr>
              <a:t>kesalahan</a:t>
            </a:r>
            <a:r>
              <a:rPr lang="en-US" sz="1100" b="0" dirty="0">
                <a:solidFill>
                  <a:schemeClr val="bg1"/>
                </a:solidFill>
              </a:rPr>
              <a:t> </a:t>
            </a:r>
            <a:r>
              <a:rPr lang="en-US" sz="1100" b="0" dirty="0" err="1">
                <a:solidFill>
                  <a:schemeClr val="bg1"/>
                </a:solidFill>
              </a:rPr>
              <a:t>penginputan</a:t>
            </a:r>
            <a:r>
              <a:rPr lang="en-US" sz="1100" b="0" dirty="0">
                <a:solidFill>
                  <a:schemeClr val="bg1"/>
                </a:solidFill>
              </a:rPr>
              <a:t>, </a:t>
            </a:r>
            <a:r>
              <a:rPr lang="en-US" sz="1100" b="0" dirty="0" err="1">
                <a:solidFill>
                  <a:schemeClr val="bg1"/>
                </a:solidFill>
              </a:rPr>
              <a:t>ataupun</a:t>
            </a:r>
            <a:r>
              <a:rPr lang="en-US" sz="1100" b="0" dirty="0">
                <a:solidFill>
                  <a:schemeClr val="bg1"/>
                </a:solidFill>
              </a:rPr>
              <a:t> </a:t>
            </a:r>
            <a:r>
              <a:rPr lang="en-US" sz="1100" b="0" i="1" dirty="0">
                <a:solidFill>
                  <a:schemeClr val="bg1"/>
                </a:solidFill>
              </a:rPr>
              <a:t>missing value</a:t>
            </a:r>
            <a:r>
              <a:rPr lang="en-US" sz="1100" b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" name="Google Shape;51;p2">
            <a:extLst>
              <a:ext uri="{FF2B5EF4-FFF2-40B4-BE49-F238E27FC236}">
                <a16:creationId xmlns:a16="http://schemas.microsoft.com/office/drawing/2014/main" id="{7F96E673-36FF-D3E7-2C6E-4DFFADF81F62}"/>
              </a:ext>
            </a:extLst>
          </p:cNvPr>
          <p:cNvSpPr txBox="1">
            <a:spLocks/>
          </p:cNvSpPr>
          <p:nvPr/>
        </p:nvSpPr>
        <p:spPr>
          <a:xfrm>
            <a:off x="4945562" y="3955064"/>
            <a:ext cx="3922345" cy="70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"/>
              <a:buNone/>
              <a:defRPr sz="3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</a:rPr>
              <a:t>Data Proses di Power Query</a:t>
            </a:r>
          </a:p>
          <a:p>
            <a:r>
              <a:rPr lang="en-US" sz="1100" b="0" dirty="0" err="1">
                <a:solidFill>
                  <a:schemeClr val="bg1"/>
                </a:solidFill>
              </a:rPr>
              <a:t>Mengolah</a:t>
            </a:r>
            <a:r>
              <a:rPr lang="en-US" sz="1100" b="0" dirty="0">
                <a:solidFill>
                  <a:schemeClr val="bg1"/>
                </a:solidFill>
              </a:rPr>
              <a:t> data </a:t>
            </a:r>
            <a:r>
              <a:rPr lang="en-US" sz="1100" b="0" dirty="0" err="1">
                <a:solidFill>
                  <a:schemeClr val="bg1"/>
                </a:solidFill>
              </a:rPr>
              <a:t>untuk</a:t>
            </a:r>
            <a:r>
              <a:rPr lang="en-US" sz="1100" b="0" dirty="0">
                <a:solidFill>
                  <a:schemeClr val="bg1"/>
                </a:solidFill>
              </a:rPr>
              <a:t> </a:t>
            </a:r>
            <a:r>
              <a:rPr lang="en-US" sz="1100" b="0" dirty="0" err="1">
                <a:solidFill>
                  <a:schemeClr val="bg1"/>
                </a:solidFill>
              </a:rPr>
              <a:t>mendapatkan</a:t>
            </a:r>
            <a:r>
              <a:rPr lang="en-US" sz="1100" b="0" dirty="0">
                <a:solidFill>
                  <a:schemeClr val="bg1"/>
                </a:solidFill>
              </a:rPr>
              <a:t> insight</a:t>
            </a:r>
          </a:p>
        </p:txBody>
      </p:sp>
    </p:spTree>
    <p:extLst>
      <p:ext uri="{BB962C8B-B14F-4D97-AF65-F5344CB8AC3E}">
        <p14:creationId xmlns:p14="http://schemas.microsoft.com/office/powerpoint/2010/main" val="1376503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>
            <a:spLocks noGrp="1"/>
          </p:cNvSpPr>
          <p:nvPr>
            <p:ph type="title"/>
          </p:nvPr>
        </p:nvSpPr>
        <p:spPr>
          <a:xfrm>
            <a:off x="311699" y="672450"/>
            <a:ext cx="63195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 err="1"/>
              <a:t>Transjakarta</a:t>
            </a:r>
            <a:r>
              <a:rPr lang="en-US" dirty="0"/>
              <a:t> Overview April 2023</a:t>
            </a:r>
            <a:endParaRPr dirty="0"/>
          </a:p>
        </p:txBody>
      </p:sp>
      <p:sp>
        <p:nvSpPr>
          <p:cNvPr id="57" name="Google Shape;57;p3"/>
          <p:cNvSpPr txBox="1">
            <a:spLocks noGrp="1"/>
          </p:cNvSpPr>
          <p:nvPr>
            <p:ph type="body" idx="1"/>
          </p:nvPr>
        </p:nvSpPr>
        <p:spPr>
          <a:xfrm>
            <a:off x="4493214" y="1355375"/>
            <a:ext cx="4339085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b="1" dirty="0" err="1"/>
              <a:t>Transjakarta</a:t>
            </a:r>
            <a:r>
              <a:rPr lang="en-US" dirty="0"/>
              <a:t> pada </a:t>
            </a:r>
            <a:r>
              <a:rPr lang="en-US" dirty="0" err="1"/>
              <a:t>bulan</a:t>
            </a:r>
            <a:r>
              <a:rPr lang="en-US" dirty="0"/>
              <a:t> April 2023 </a:t>
            </a:r>
            <a:r>
              <a:rPr lang="en-US" dirty="0" err="1"/>
              <a:t>mencatatkan</a:t>
            </a:r>
            <a:r>
              <a:rPr lang="en-US" dirty="0"/>
              <a:t> </a:t>
            </a:r>
            <a:r>
              <a:rPr lang="en-US" b="1" i="1" dirty="0"/>
              <a:t>Revenue </a:t>
            </a:r>
            <a:r>
              <a:rPr lang="en-US" b="1" dirty="0" err="1"/>
              <a:t>sebanyak</a:t>
            </a:r>
            <a:r>
              <a:rPr lang="en-US" b="1" dirty="0"/>
              <a:t> Rp94.628.000 </a:t>
            </a:r>
            <a:r>
              <a:rPr lang="en-US" dirty="0" err="1"/>
              <a:t>dengan</a:t>
            </a:r>
            <a:r>
              <a:rPr lang="en-US" b="1" dirty="0"/>
              <a:t> total </a:t>
            </a:r>
            <a:r>
              <a:rPr lang="en-US" b="1" dirty="0" err="1"/>
              <a:t>transaksi</a:t>
            </a:r>
            <a:r>
              <a:rPr lang="en-US" b="1" dirty="0"/>
              <a:t>/</a:t>
            </a:r>
            <a:r>
              <a:rPr lang="en-US" b="1" dirty="0" err="1"/>
              <a:t>penumpang</a:t>
            </a:r>
            <a:r>
              <a:rPr lang="en-US" b="1" dirty="0"/>
              <a:t> </a:t>
            </a:r>
            <a:r>
              <a:rPr lang="en-US" b="1" dirty="0" err="1"/>
              <a:t>sebanyak</a:t>
            </a:r>
            <a:r>
              <a:rPr lang="en-US" b="1" dirty="0"/>
              <a:t> 35.970, </a:t>
            </a:r>
            <a:r>
              <a:rPr lang="en-US" dirty="0" err="1"/>
              <a:t>serta</a:t>
            </a:r>
            <a:r>
              <a:rPr lang="en-US" b="1" dirty="0"/>
              <a:t> rata-rata </a:t>
            </a:r>
            <a:r>
              <a:rPr lang="en-US" b="1" dirty="0" err="1"/>
              <a:t>harga</a:t>
            </a:r>
            <a:r>
              <a:rPr lang="en-US" b="1" dirty="0"/>
              <a:t> </a:t>
            </a:r>
            <a:r>
              <a:rPr lang="en-US" b="1" dirty="0" err="1"/>
              <a:t>tiket</a:t>
            </a:r>
            <a:r>
              <a:rPr lang="en-US" b="1" dirty="0"/>
              <a:t> </a:t>
            </a:r>
            <a:r>
              <a:rPr lang="en-US" b="1" dirty="0" err="1"/>
              <a:t>seharga</a:t>
            </a:r>
            <a:r>
              <a:rPr lang="en-US" b="1" dirty="0"/>
              <a:t> Rp2.702,73 </a:t>
            </a:r>
            <a:r>
              <a:rPr lang="en-US" dirty="0"/>
              <a:t>dan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b="1" i="1" dirty="0"/>
              <a:t>missing </a:t>
            </a:r>
            <a:r>
              <a:rPr lang="en-US" b="1" i="1" dirty="0" err="1"/>
              <a:t>tapout</a:t>
            </a:r>
            <a:r>
              <a:rPr lang="en-US" b="1" i="1" dirty="0"/>
              <a:t> </a:t>
            </a:r>
            <a:r>
              <a:rPr lang="en-US" b="1" dirty="0" err="1"/>
              <a:t>sebanyak</a:t>
            </a:r>
            <a:r>
              <a:rPr lang="en-US" b="1" dirty="0"/>
              <a:t> 1.268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sekitar</a:t>
            </a:r>
            <a:r>
              <a:rPr lang="en-US" dirty="0"/>
              <a:t> </a:t>
            </a:r>
            <a:r>
              <a:rPr lang="en-US" b="1" dirty="0"/>
              <a:t>3.53% </a:t>
            </a:r>
            <a:r>
              <a:rPr lang="en-US" dirty="0" err="1"/>
              <a:t>penumpang</a:t>
            </a:r>
            <a:r>
              <a:rPr lang="en-US" dirty="0"/>
              <a:t> yang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gagal</a:t>
            </a:r>
            <a:r>
              <a:rPr lang="en-US" dirty="0"/>
              <a:t> </a:t>
            </a:r>
            <a:r>
              <a:rPr lang="en-US" i="1" dirty="0" err="1"/>
              <a:t>tapout</a:t>
            </a:r>
            <a:r>
              <a:rPr lang="en-US" i="1" dirty="0"/>
              <a:t>.</a:t>
            </a:r>
            <a:endParaRPr b="1" i="1" dirty="0"/>
          </a:p>
        </p:txBody>
      </p:sp>
      <p:pic>
        <p:nvPicPr>
          <p:cNvPr id="5" name="Picture 4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EA772618-C44E-0223-1608-1A0F6DA85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7" y="2111033"/>
            <a:ext cx="4339086" cy="8379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>
            <a:spLocks noGrp="1"/>
          </p:cNvSpPr>
          <p:nvPr>
            <p:ph type="title"/>
          </p:nvPr>
        </p:nvSpPr>
        <p:spPr>
          <a:xfrm>
            <a:off x="265499" y="503341"/>
            <a:ext cx="2638500" cy="64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 sz="1400" dirty="0" err="1">
                <a:solidFill>
                  <a:srgbClr val="C4F63B"/>
                </a:solidFill>
              </a:rPr>
              <a:t>Berdasarkan</a:t>
            </a:r>
            <a:r>
              <a:rPr lang="en-US" sz="1400" dirty="0">
                <a:solidFill>
                  <a:srgbClr val="C4F63B"/>
                </a:solidFill>
              </a:rPr>
              <a:t> </a:t>
            </a:r>
            <a:r>
              <a:rPr lang="en-US" sz="1400" dirty="0" err="1">
                <a:solidFill>
                  <a:srgbClr val="C4F63B"/>
                </a:solidFill>
              </a:rPr>
              <a:t>penumpang</a:t>
            </a:r>
            <a:r>
              <a:rPr lang="en-US" sz="1400" dirty="0">
                <a:solidFill>
                  <a:srgbClr val="C4F63B"/>
                </a:solidFill>
              </a:rPr>
              <a:t> </a:t>
            </a:r>
            <a:endParaRPr sz="1400" dirty="0">
              <a:solidFill>
                <a:srgbClr val="C4F63B"/>
              </a:solidFill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subTitle" idx="1"/>
          </p:nvPr>
        </p:nvSpPr>
        <p:spPr>
          <a:xfrm>
            <a:off x="265499" y="1144859"/>
            <a:ext cx="2938617" cy="362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Jika </a:t>
            </a:r>
            <a:r>
              <a:rPr lang="en-US" sz="1200" dirty="0" err="1">
                <a:solidFill>
                  <a:schemeClr val="bg1"/>
                </a:solidFill>
              </a:rPr>
              <a:t>dilihat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persebaran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usia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penumpang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maka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penumpang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Transjakarta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sendiri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didominasi</a:t>
            </a:r>
            <a:r>
              <a:rPr lang="en-US" sz="1200" dirty="0">
                <a:solidFill>
                  <a:schemeClr val="bg1"/>
                </a:solidFill>
              </a:rPr>
              <a:t> oleh </a:t>
            </a:r>
            <a:r>
              <a:rPr lang="en-US" sz="1200" dirty="0" err="1">
                <a:solidFill>
                  <a:schemeClr val="bg1"/>
                </a:solidFill>
              </a:rPr>
              <a:t>kaum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rgbClr val="335792"/>
                </a:solidFill>
              </a:rPr>
              <a:t>Millenial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sebanyak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49%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baru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disusul</a:t>
            </a:r>
            <a:r>
              <a:rPr lang="en-US" sz="1200" dirty="0">
                <a:solidFill>
                  <a:schemeClr val="bg1"/>
                </a:solidFill>
              </a:rPr>
              <a:t> oleh </a:t>
            </a:r>
            <a:r>
              <a:rPr lang="en-US" sz="1200" b="1" dirty="0">
                <a:solidFill>
                  <a:srgbClr val="436AB2"/>
                </a:solidFill>
              </a:rPr>
              <a:t>Gen Z</a:t>
            </a:r>
            <a:r>
              <a:rPr lang="en-US" sz="1200" dirty="0">
                <a:solidFill>
                  <a:srgbClr val="436AB2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dengan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32%.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Para </a:t>
            </a:r>
            <a:r>
              <a:rPr lang="en-US" sz="1200" dirty="0" err="1">
                <a:solidFill>
                  <a:schemeClr val="bg1"/>
                </a:solidFill>
              </a:rPr>
              <a:t>kaum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Millenial</a:t>
            </a:r>
            <a:r>
              <a:rPr lang="en-US" sz="1200" dirty="0">
                <a:solidFill>
                  <a:schemeClr val="bg1"/>
                </a:solidFill>
              </a:rPr>
              <a:t> yang naik </a:t>
            </a:r>
            <a:r>
              <a:rPr lang="en-US" sz="1200" dirty="0" err="1">
                <a:solidFill>
                  <a:schemeClr val="bg1"/>
                </a:solidFill>
              </a:rPr>
              <a:t>Transjakarta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memang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kaum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pekerja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memerlukan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mobilitas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tinggi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namun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dengan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harga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terjangkau</a:t>
            </a:r>
            <a:r>
              <a:rPr lang="en-US" sz="1200" dirty="0">
                <a:solidFill>
                  <a:schemeClr val="bg1"/>
                </a:solidFill>
              </a:rPr>
              <a:t>. </a:t>
            </a:r>
            <a:r>
              <a:rPr lang="en-US" sz="1200" dirty="0" err="1">
                <a:solidFill>
                  <a:schemeClr val="bg1"/>
                </a:solidFill>
              </a:rPr>
              <a:t>Sehingga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mereka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mendominasi</a:t>
            </a:r>
            <a:r>
              <a:rPr lang="en-US" sz="1200" dirty="0">
                <a:solidFill>
                  <a:schemeClr val="bg1"/>
                </a:solidFill>
              </a:rPr>
              <a:t> total </a:t>
            </a:r>
            <a:r>
              <a:rPr lang="en-US" sz="1200" dirty="0" err="1">
                <a:solidFill>
                  <a:schemeClr val="bg1"/>
                </a:solidFill>
              </a:rPr>
              <a:t>penumpang</a:t>
            </a:r>
            <a:r>
              <a:rPr lang="en-US" sz="1200" dirty="0">
                <a:solidFill>
                  <a:schemeClr val="bg1"/>
                </a:solidFill>
              </a:rPr>
              <a:t> di </a:t>
            </a:r>
            <a:r>
              <a:rPr lang="en-US" sz="1200" dirty="0" err="1">
                <a:solidFill>
                  <a:schemeClr val="bg1"/>
                </a:solidFill>
              </a:rPr>
              <a:t>Transjakarta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Sementara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terdapat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pola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menarik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penumpang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Transjakarta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ternyata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lebih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dominan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diisi</a:t>
            </a:r>
            <a:r>
              <a:rPr lang="en-US" sz="1200" dirty="0">
                <a:solidFill>
                  <a:schemeClr val="bg1"/>
                </a:solidFill>
              </a:rPr>
              <a:t> oleh </a:t>
            </a:r>
            <a:r>
              <a:rPr lang="en-US" sz="1200" b="1" dirty="0" err="1">
                <a:solidFill>
                  <a:schemeClr val="bg1"/>
                </a:solidFill>
              </a:rPr>
              <a:t>perempuan</a:t>
            </a:r>
            <a:r>
              <a:rPr lang="en-US" sz="1200" dirty="0">
                <a:solidFill>
                  <a:schemeClr val="bg1"/>
                </a:solidFill>
              </a:rPr>
              <a:t> disbanding </a:t>
            </a:r>
            <a:r>
              <a:rPr lang="en-US" sz="1200" b="1" dirty="0" err="1">
                <a:solidFill>
                  <a:schemeClr val="bg1"/>
                </a:solidFill>
              </a:rPr>
              <a:t>laki-laki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Picture 6" descr="A blue pie chart with white text&#10;&#10;AI-generated content may be incorrect.">
            <a:extLst>
              <a:ext uri="{FF2B5EF4-FFF2-40B4-BE49-F238E27FC236}">
                <a16:creationId xmlns:a16="http://schemas.microsoft.com/office/drawing/2014/main" id="{B5240F42-37B7-E0C9-4ABA-3B0F98912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835" y="894787"/>
            <a:ext cx="2326920" cy="2110598"/>
          </a:xfrm>
          <a:prstGeom prst="rect">
            <a:avLst/>
          </a:prstGeom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B48A55-5E22-FA32-83A1-56E366CEF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331" y="830903"/>
            <a:ext cx="2938617" cy="2174482"/>
          </a:xfrm>
          <a:prstGeom prst="rect">
            <a:avLst/>
          </a:prstGeom>
          <a:ln w="9525"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246F1D-55E7-210C-CED1-2599FC541853}"/>
              </a:ext>
            </a:extLst>
          </p:cNvPr>
          <p:cNvSpPr txBox="1"/>
          <p:nvPr/>
        </p:nvSpPr>
        <p:spPr>
          <a:xfrm>
            <a:off x="3843430" y="3496351"/>
            <a:ext cx="514442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Karena </a:t>
            </a:r>
            <a:r>
              <a:rPr lang="id-ID" sz="1100" b="1" dirty="0">
                <a:latin typeface="Poppins" panose="00000500000000000000" pitchFamily="2" charset="0"/>
                <a:cs typeface="Poppins" panose="00000500000000000000" pitchFamily="2" charset="0"/>
              </a:rPr>
              <a:t>80% </a:t>
            </a: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penumpang adalah </a:t>
            </a:r>
            <a:r>
              <a:rPr lang="id-ID" sz="1100" i="1" dirty="0">
                <a:latin typeface="Poppins" panose="00000500000000000000" pitchFamily="2" charset="0"/>
                <a:cs typeface="Poppins" panose="00000500000000000000" pitchFamily="2" charset="0"/>
              </a:rPr>
              <a:t>Digital </a:t>
            </a:r>
            <a:r>
              <a:rPr lang="id-ID" sz="1100" i="1" dirty="0" err="1">
                <a:latin typeface="Poppins" panose="00000500000000000000" pitchFamily="2" charset="0"/>
                <a:cs typeface="Poppins" panose="00000500000000000000" pitchFamily="2" charset="0"/>
              </a:rPr>
              <a:t>Natives</a:t>
            </a: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, strategi komunikasi, komplain, dan info rute wajib </a:t>
            </a:r>
            <a:r>
              <a:rPr lang="id-ID" sz="1100" i="1" dirty="0">
                <a:latin typeface="Poppins" panose="00000500000000000000" pitchFamily="2" charset="0"/>
                <a:cs typeface="Poppins" panose="00000500000000000000" pitchFamily="2" charset="0"/>
              </a:rPr>
              <a:t>digital-</a:t>
            </a:r>
            <a:r>
              <a:rPr lang="id-ID" sz="1100" i="1" dirty="0" err="1">
                <a:latin typeface="Poppins" panose="00000500000000000000" pitchFamily="2" charset="0"/>
                <a:cs typeface="Poppins" panose="00000500000000000000" pitchFamily="2" charset="0"/>
              </a:rPr>
              <a:t>first</a:t>
            </a: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 (via </a:t>
            </a:r>
            <a:r>
              <a:rPr lang="id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App</a:t>
            </a: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id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Medsos</a:t>
            </a: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). Jangan habiskan </a:t>
            </a:r>
            <a:r>
              <a:rPr lang="id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budget</a:t>
            </a: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 untuk brosur cetak.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Karena mayoritas pelanggan adalah </a:t>
            </a:r>
            <a:r>
              <a:rPr lang="id-ID" sz="1100" b="1" dirty="0">
                <a:latin typeface="Poppins" panose="00000500000000000000" pitchFamily="2" charset="0"/>
                <a:cs typeface="Poppins" panose="00000500000000000000" pitchFamily="2" charset="0"/>
              </a:rPr>
              <a:t>wanita</a:t>
            </a: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, program "</a:t>
            </a:r>
            <a:r>
              <a:rPr lang="id-ID" sz="1100" i="1" dirty="0">
                <a:latin typeface="Poppins" panose="00000500000000000000" pitchFamily="2" charset="0"/>
                <a:cs typeface="Poppins" panose="00000500000000000000" pitchFamily="2" charset="0"/>
              </a:rPr>
              <a:t>Anti-</a:t>
            </a:r>
            <a:r>
              <a:rPr lang="id-ID" sz="1100" i="1" dirty="0" err="1">
                <a:latin typeface="Poppins" panose="00000500000000000000" pitchFamily="2" charset="0"/>
                <a:cs typeface="Poppins" panose="00000500000000000000" pitchFamily="2" charset="0"/>
              </a:rPr>
              <a:t>Sexual</a:t>
            </a:r>
            <a:r>
              <a:rPr lang="id-ID" sz="1100" i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d-ID" sz="1100" i="1" dirty="0" err="1">
                <a:latin typeface="Poppins" panose="00000500000000000000" pitchFamily="2" charset="0"/>
                <a:cs typeface="Poppins" panose="00000500000000000000" pitchFamily="2" charset="0"/>
              </a:rPr>
              <a:t>Harassment</a:t>
            </a: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" dan CCTV/Petugas di dalam bus adalah kunci retensi pelanggan. Jika wanita merasa tidak aman, </a:t>
            </a:r>
            <a:r>
              <a:rPr lang="id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Transjakarta</a:t>
            </a: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 akan kehilangan basis pelanggan terbesarnya.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9FBEAB1-DC64-F7C1-B81F-2A040468FAB4}"/>
              </a:ext>
            </a:extLst>
          </p:cNvPr>
          <p:cNvSpPr txBox="1">
            <a:spLocks/>
          </p:cNvSpPr>
          <p:nvPr/>
        </p:nvSpPr>
        <p:spPr>
          <a:xfrm>
            <a:off x="4001135" y="3005385"/>
            <a:ext cx="2638500" cy="58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oppins"/>
              <a:buNone/>
              <a:defRPr sz="33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solidFill>
                  <a:srgbClr val="52AA60"/>
                </a:solidFill>
              </a:rPr>
              <a:t>Insight:</a:t>
            </a:r>
            <a:endParaRPr lang="id-ID" sz="1600" dirty="0">
              <a:solidFill>
                <a:srgbClr val="52AA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87F78-ABB8-0959-7F34-EDB0AC90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490350"/>
            <a:ext cx="2638500" cy="580167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C4F63B"/>
                </a:solidFill>
              </a:rPr>
              <a:t>Revenue </a:t>
            </a:r>
            <a:r>
              <a:rPr lang="en-US" sz="1600" dirty="0" err="1">
                <a:solidFill>
                  <a:srgbClr val="C4F63B"/>
                </a:solidFill>
              </a:rPr>
              <a:t>Berdasarkan</a:t>
            </a:r>
            <a:r>
              <a:rPr lang="en-US" sz="1600" dirty="0">
                <a:solidFill>
                  <a:srgbClr val="C4F63B"/>
                </a:solidFill>
              </a:rPr>
              <a:t> Metode </a:t>
            </a:r>
            <a:r>
              <a:rPr lang="en-US" sz="1600" dirty="0" err="1">
                <a:solidFill>
                  <a:srgbClr val="C4F63B"/>
                </a:solidFill>
              </a:rPr>
              <a:t>Pembayaran</a:t>
            </a:r>
            <a:endParaRPr lang="id-ID" sz="1600" dirty="0">
              <a:solidFill>
                <a:srgbClr val="C4F63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2770D7-3DF5-FB73-1E3D-AAA4D053D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76" y="1070517"/>
            <a:ext cx="3137210" cy="383666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Hampir</a:t>
            </a:r>
            <a:r>
              <a:rPr lang="en-US" sz="1200" dirty="0">
                <a:solidFill>
                  <a:schemeClr val="bg1"/>
                </a:solidFill>
              </a:rPr>
              <a:t> 50% </a:t>
            </a:r>
            <a:r>
              <a:rPr lang="en-US" sz="1200" dirty="0" err="1">
                <a:solidFill>
                  <a:schemeClr val="bg1"/>
                </a:solidFill>
              </a:rPr>
              <a:t>penumpang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Transjakarta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adalah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pengguna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ekosistem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Bank DKI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(</a:t>
            </a:r>
            <a:r>
              <a:rPr lang="en-US" sz="1200" b="1" dirty="0" err="1">
                <a:solidFill>
                  <a:schemeClr val="bg1"/>
                </a:solidFill>
              </a:rPr>
              <a:t>JakCard</a:t>
            </a:r>
            <a:r>
              <a:rPr lang="en-US" sz="1200" b="1" dirty="0">
                <a:solidFill>
                  <a:schemeClr val="bg1"/>
                </a:solidFill>
              </a:rPr>
              <a:t>)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d-ID" sz="1200" dirty="0">
                <a:solidFill>
                  <a:schemeClr val="bg1"/>
                </a:solidFill>
              </a:rPr>
              <a:t>Pengguna Bank DKI biasanya berkorelasi kuat dengan Penerima Subsidi &amp; Program Pemerintah (Lansia, Pelajar, Penerima KJP, Pegawai Pemprov, dan Kartu Gratis Layanan Tertentu).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Jika bank </a:t>
            </a:r>
            <a:r>
              <a:rPr lang="en-US" sz="1200" dirty="0" err="1">
                <a:solidFill>
                  <a:schemeClr val="bg1"/>
                </a:solidFill>
              </a:rPr>
              <a:t>komersial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digabungkan</a:t>
            </a:r>
            <a:r>
              <a:rPr lang="en-US" sz="1200" dirty="0">
                <a:solidFill>
                  <a:schemeClr val="bg1"/>
                </a:solidFill>
              </a:rPr>
              <a:t> (</a:t>
            </a:r>
            <a:r>
              <a:rPr lang="en-US" sz="1200" b="1" dirty="0" err="1">
                <a:solidFill>
                  <a:schemeClr val="bg1"/>
                </a:solidFill>
              </a:rPr>
              <a:t>Mandiri</a:t>
            </a:r>
            <a:r>
              <a:rPr lang="en-US" sz="1200" b="1" dirty="0">
                <a:solidFill>
                  <a:schemeClr val="bg1"/>
                </a:solidFill>
              </a:rPr>
              <a:t>, BRI, BCA, BNI)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menguasai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sekitar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43%. </a:t>
            </a:r>
            <a:r>
              <a:rPr lang="en-US" sz="1200" dirty="0">
                <a:solidFill>
                  <a:schemeClr val="bg1"/>
                </a:solidFill>
              </a:rPr>
              <a:t>Serta </a:t>
            </a:r>
            <a:r>
              <a:rPr lang="en-US" sz="1200" b="1" dirty="0">
                <a:solidFill>
                  <a:schemeClr val="bg1"/>
                </a:solidFill>
              </a:rPr>
              <a:t>e-money </a:t>
            </a:r>
            <a:r>
              <a:rPr lang="en-US" sz="1200" dirty="0" err="1">
                <a:solidFill>
                  <a:schemeClr val="bg1"/>
                </a:solidFill>
              </a:rPr>
              <a:t>masih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jadi</a:t>
            </a:r>
            <a:r>
              <a:rPr lang="en-US" sz="1200" dirty="0">
                <a:solidFill>
                  <a:schemeClr val="bg1"/>
                </a:solidFill>
              </a:rPr>
              <a:t> raja di </a:t>
            </a:r>
            <a:r>
              <a:rPr lang="en-US" sz="1200" dirty="0" err="1">
                <a:solidFill>
                  <a:schemeClr val="bg1"/>
                </a:solidFill>
              </a:rPr>
              <a:t>segmen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komersial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Serta yang </a:t>
            </a:r>
            <a:r>
              <a:rPr lang="en-US" sz="1200" dirty="0" err="1">
                <a:solidFill>
                  <a:schemeClr val="bg1"/>
                </a:solidFill>
              </a:rPr>
              <a:t>menarik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adopsi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sistem</a:t>
            </a:r>
            <a:r>
              <a:rPr lang="en-US" sz="1200" dirty="0">
                <a:solidFill>
                  <a:schemeClr val="bg1"/>
                </a:solidFill>
              </a:rPr>
              <a:t> digital </a:t>
            </a:r>
            <a:r>
              <a:rPr lang="en-US" sz="1200" dirty="0" err="1">
                <a:solidFill>
                  <a:schemeClr val="bg1"/>
                </a:solidFill>
              </a:rPr>
              <a:t>mulai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tumbuh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tapi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belum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dominan</a:t>
            </a:r>
            <a:r>
              <a:rPr lang="en-US" sz="1200" dirty="0">
                <a:solidFill>
                  <a:schemeClr val="bg1"/>
                </a:solidFill>
              </a:rPr>
              <a:t>. Ini </a:t>
            </a:r>
            <a:r>
              <a:rPr lang="en-US" sz="1200" dirty="0" err="1">
                <a:solidFill>
                  <a:schemeClr val="bg1"/>
                </a:solidFill>
              </a:rPr>
              <a:t>menunjukkan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penumpan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masih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nyaman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dengan</a:t>
            </a:r>
            <a:r>
              <a:rPr lang="en-US" sz="1200" dirty="0">
                <a:solidFill>
                  <a:schemeClr val="bg1"/>
                </a:solidFill>
              </a:rPr>
              <a:t> “Tap Kartu </a:t>
            </a:r>
            <a:r>
              <a:rPr lang="en-US" sz="1200" dirty="0" err="1">
                <a:solidFill>
                  <a:schemeClr val="bg1"/>
                </a:solidFill>
              </a:rPr>
              <a:t>Fisik</a:t>
            </a:r>
            <a:r>
              <a:rPr lang="en-US" sz="1200" dirty="0">
                <a:solidFill>
                  <a:schemeClr val="bg1"/>
                </a:solidFill>
              </a:rPr>
              <a:t>” yang </a:t>
            </a:r>
            <a:r>
              <a:rPr lang="en-US" sz="1200" dirty="0" err="1">
                <a:solidFill>
                  <a:schemeClr val="bg1"/>
                </a:solidFill>
              </a:rPr>
              <a:t>dianggap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lebih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cepat</a:t>
            </a:r>
            <a:r>
              <a:rPr lang="en-US" sz="1200" dirty="0">
                <a:solidFill>
                  <a:schemeClr val="bg1"/>
                </a:solidFill>
              </a:rPr>
              <a:t> disbanding </a:t>
            </a:r>
            <a:r>
              <a:rPr lang="en-US" sz="1200" dirty="0" err="1">
                <a:solidFill>
                  <a:schemeClr val="bg1"/>
                </a:solidFill>
              </a:rPr>
              <a:t>harus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buka</a:t>
            </a:r>
            <a:r>
              <a:rPr lang="en-US" sz="1200" dirty="0">
                <a:solidFill>
                  <a:schemeClr val="bg1"/>
                </a:solidFill>
              </a:rPr>
              <a:t> HP </a:t>
            </a:r>
            <a:r>
              <a:rPr lang="en-US" sz="1200" dirty="0" err="1">
                <a:solidFill>
                  <a:schemeClr val="bg1"/>
                </a:solidFill>
              </a:rPr>
              <a:t>dulu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  <a:endParaRPr lang="id-ID" sz="12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F628F1-047A-0C5F-6DA8-D29ABC5B4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139" y="349009"/>
            <a:ext cx="3377477" cy="26763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36F7AA-3BFE-00DC-E70C-2FE6768488FB}"/>
              </a:ext>
            </a:extLst>
          </p:cNvPr>
          <p:cNvSpPr txBox="1"/>
          <p:nvPr/>
        </p:nvSpPr>
        <p:spPr>
          <a:xfrm>
            <a:off x="3791415" y="3516351"/>
            <a:ext cx="473492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Jika </a:t>
            </a:r>
            <a:r>
              <a:rPr lang="en-US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Transjakarta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ingin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meningkatkan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Revenue (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bukan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sekadar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jumlah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penumpang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),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fokus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marketing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harus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diarahkan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43%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penggguna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kartu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bank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komersial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Ada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potensi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yang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belum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tergarap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Bank BCA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. Karena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dia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bank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transaksional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terbesar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di Jakarta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ritel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. Jadi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target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potensial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dikonversi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penggunanya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naik bus.</a:t>
            </a:r>
            <a:endParaRPr lang="id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5AB6E96-EC77-11F6-8F48-4FA274877AD9}"/>
              </a:ext>
            </a:extLst>
          </p:cNvPr>
          <p:cNvSpPr txBox="1">
            <a:spLocks/>
          </p:cNvSpPr>
          <p:nvPr/>
        </p:nvSpPr>
        <p:spPr>
          <a:xfrm>
            <a:off x="3949119" y="3025385"/>
            <a:ext cx="2638500" cy="58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oppins"/>
              <a:buNone/>
              <a:defRPr sz="33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solidFill>
                  <a:srgbClr val="52AA60"/>
                </a:solidFill>
              </a:rPr>
              <a:t>Insight:</a:t>
            </a:r>
            <a:endParaRPr lang="id-ID" sz="1600" dirty="0">
              <a:solidFill>
                <a:srgbClr val="52AA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754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F663653-665C-C8FF-7B1B-F727ADAE0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68" y="480885"/>
            <a:ext cx="2638500" cy="580167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C4F63B"/>
                </a:solidFill>
              </a:rPr>
              <a:t>The Golden 5 Hours</a:t>
            </a:r>
            <a:endParaRPr lang="id-ID" sz="1600" dirty="0">
              <a:solidFill>
                <a:srgbClr val="C4F63B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440ADEB-5736-726D-97A1-71D73459D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512" y="951571"/>
            <a:ext cx="3137210" cy="408134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d-ID" sz="1200" dirty="0">
                <a:solidFill>
                  <a:schemeClr val="bg1"/>
                </a:solidFill>
              </a:rPr>
              <a:t>Hanya dalam 5 Jam Operasional (05.00-09.00 &amp; 17.00), </a:t>
            </a:r>
            <a:r>
              <a:rPr lang="id-ID" sz="1200" dirty="0" err="1">
                <a:solidFill>
                  <a:schemeClr val="bg1"/>
                </a:solidFill>
              </a:rPr>
              <a:t>Transjakarta</a:t>
            </a:r>
            <a:r>
              <a:rPr lang="id-ID" sz="1200" dirty="0">
                <a:solidFill>
                  <a:schemeClr val="bg1"/>
                </a:solidFill>
              </a:rPr>
              <a:t> sudah mengamankan lebih dari </a:t>
            </a:r>
            <a:r>
              <a:rPr lang="id-ID" sz="1200" b="1" dirty="0">
                <a:solidFill>
                  <a:schemeClr val="bg1"/>
                </a:solidFill>
              </a:rPr>
              <a:t>50% </a:t>
            </a:r>
            <a:r>
              <a:rPr lang="id-ID" sz="1200" dirty="0">
                <a:solidFill>
                  <a:schemeClr val="bg1"/>
                </a:solidFill>
              </a:rPr>
              <a:t>Pendapatan Harian.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id-ID" sz="1200" dirty="0">
                <a:solidFill>
                  <a:schemeClr val="bg1"/>
                </a:solidFill>
              </a:rPr>
              <a:t>Data menunjukkan kumulatif 53.81% terjadi hanya di jam</a:t>
            </a:r>
            <a:r>
              <a:rPr lang="id-ID" sz="1200" b="1" dirty="0">
                <a:solidFill>
                  <a:schemeClr val="bg1"/>
                </a:solidFill>
              </a:rPr>
              <a:t>: 06, 17, 08, 05, </a:t>
            </a:r>
            <a:r>
              <a:rPr lang="id-ID" sz="1200" dirty="0">
                <a:solidFill>
                  <a:schemeClr val="bg1"/>
                </a:solidFill>
              </a:rPr>
              <a:t>dan</a:t>
            </a:r>
            <a:r>
              <a:rPr lang="id-ID" sz="1200" b="1" dirty="0">
                <a:solidFill>
                  <a:schemeClr val="bg1"/>
                </a:solidFill>
              </a:rPr>
              <a:t> 09</a:t>
            </a:r>
            <a:r>
              <a:rPr lang="id-ID" sz="1200" dirty="0">
                <a:solidFill>
                  <a:schemeClr val="bg1"/>
                </a:solidFill>
              </a:rPr>
              <a:t>. Jika operasional bus dimaksimalkan di jendela waktu sempit ini, separuh target omzet sudah tercapai.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id-ID" sz="1200" dirty="0">
                <a:solidFill>
                  <a:schemeClr val="bg1"/>
                </a:solidFill>
              </a:rPr>
              <a:t>Jam </a:t>
            </a:r>
            <a:r>
              <a:rPr lang="id-ID" sz="1200" b="1" dirty="0">
                <a:solidFill>
                  <a:schemeClr val="bg1"/>
                </a:solidFill>
              </a:rPr>
              <a:t>06.00 (Pagi) </a:t>
            </a:r>
            <a:r>
              <a:rPr lang="id-ID" sz="1200" dirty="0">
                <a:solidFill>
                  <a:schemeClr val="bg1"/>
                </a:solidFill>
              </a:rPr>
              <a:t>dan </a:t>
            </a:r>
            <a:r>
              <a:rPr lang="id-ID" sz="1200" b="1" dirty="0">
                <a:solidFill>
                  <a:schemeClr val="bg1"/>
                </a:solidFill>
              </a:rPr>
              <a:t>17.00 (Sore)</a:t>
            </a:r>
            <a:r>
              <a:rPr lang="id-ID" sz="1200" dirty="0">
                <a:solidFill>
                  <a:schemeClr val="bg1"/>
                </a:solidFill>
              </a:rPr>
              <a:t> adalah raja. Keduanya menyumbang hampir </a:t>
            </a:r>
            <a:r>
              <a:rPr lang="id-ID" sz="1200" b="1" dirty="0">
                <a:solidFill>
                  <a:schemeClr val="bg1"/>
                </a:solidFill>
              </a:rPr>
              <a:t>30% (29.46%) </a:t>
            </a:r>
            <a:r>
              <a:rPr lang="id-ID" sz="1200" dirty="0">
                <a:solidFill>
                  <a:schemeClr val="bg1"/>
                </a:solidFill>
              </a:rPr>
              <a:t>dari total uang masuk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Terdapat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kejutan</a:t>
            </a:r>
            <a:r>
              <a:rPr lang="en-US" sz="1200" dirty="0">
                <a:solidFill>
                  <a:schemeClr val="bg1"/>
                </a:solidFill>
              </a:rPr>
              <a:t> di jam </a:t>
            </a:r>
            <a:r>
              <a:rPr lang="en-US" sz="1200" b="1" dirty="0">
                <a:solidFill>
                  <a:schemeClr val="bg1"/>
                </a:solidFill>
              </a:rPr>
              <a:t>5 </a:t>
            </a:r>
            <a:r>
              <a:rPr lang="en-US" sz="1200" b="1" dirty="0" err="1">
                <a:solidFill>
                  <a:schemeClr val="bg1"/>
                </a:solidFill>
              </a:rPr>
              <a:t>pagi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yaitu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menghasilkan</a:t>
            </a:r>
            <a:r>
              <a:rPr lang="en-US" sz="1200" dirty="0">
                <a:solidFill>
                  <a:schemeClr val="bg1"/>
                </a:solidFill>
              </a:rPr>
              <a:t> revenue </a:t>
            </a:r>
            <a:r>
              <a:rPr lang="en-US" sz="1200" dirty="0" err="1">
                <a:solidFill>
                  <a:schemeClr val="bg1"/>
                </a:solidFill>
              </a:rPr>
              <a:t>lebih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banyak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jam </a:t>
            </a:r>
            <a:r>
              <a:rPr lang="en-US" sz="1200" b="1" dirty="0">
                <a:solidFill>
                  <a:schemeClr val="bg1"/>
                </a:solidFill>
              </a:rPr>
              <a:t>7 </a:t>
            </a:r>
            <a:r>
              <a:rPr lang="en-US" sz="1200" b="1" dirty="0" err="1">
                <a:solidFill>
                  <a:schemeClr val="bg1"/>
                </a:solidFill>
              </a:rPr>
              <a:t>pagi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id-ID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344470-DB0F-DEA3-260D-E83CECF46E5D}"/>
              </a:ext>
            </a:extLst>
          </p:cNvPr>
          <p:cNvSpPr txBox="1"/>
          <p:nvPr/>
        </p:nvSpPr>
        <p:spPr>
          <a:xfrm>
            <a:off x="3791415" y="3516351"/>
            <a:ext cx="47349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Prioritas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 Armada Premium di Jam 05.00 - 06.00. 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Karena jam 05.00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pagi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menyumbang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revenue sangat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(Rank 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100" b="1" dirty="0">
                <a:latin typeface="Poppins" panose="00000500000000000000" pitchFamily="2" charset="0"/>
                <a:cs typeface="Poppins" panose="00000500000000000000" pitchFamily="2" charset="0"/>
              </a:rPr>
              <a:t>Efisiensi di Luar Golden Hours</a:t>
            </a:r>
            <a:r>
              <a:rPr lang="nb-NO" sz="1100" dirty="0">
                <a:latin typeface="Poppins" panose="00000500000000000000" pitchFamily="2" charset="0"/>
                <a:cs typeface="Poppins" panose="00000500000000000000" pitchFamily="2" charset="0"/>
              </a:rPr>
              <a:t>. Kurangi frekuensi bus (headway diperlonggar) di jam 10.00 - 14.00 untuk menghemat BBM dan biaya operasional, karena dampak ke kehilangan pendapatan sangat minim.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d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6EFBE39-AF7F-1ACB-3D3B-8E8A691EFAF6}"/>
              </a:ext>
            </a:extLst>
          </p:cNvPr>
          <p:cNvGrpSpPr/>
          <p:nvPr/>
        </p:nvGrpSpPr>
        <p:grpSpPr>
          <a:xfrm>
            <a:off x="4081972" y="480885"/>
            <a:ext cx="4444369" cy="2633700"/>
            <a:chOff x="4081972" y="480885"/>
            <a:chExt cx="4444369" cy="2633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B958AFB-8B12-7E6D-1928-2A2187FA8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1972" y="480885"/>
              <a:ext cx="4444369" cy="26337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79B284F-04F9-1218-8A8F-C5C78BC2DA2B}"/>
                </a:ext>
              </a:extLst>
            </p:cNvPr>
            <p:cNvSpPr/>
            <p:nvPr/>
          </p:nvSpPr>
          <p:spPr>
            <a:xfrm>
              <a:off x="5464098" y="1797735"/>
              <a:ext cx="275063" cy="1042109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4E832496-D602-FBA2-97AB-8320CCB03ABE}"/>
              </a:ext>
            </a:extLst>
          </p:cNvPr>
          <p:cNvSpPr txBox="1">
            <a:spLocks/>
          </p:cNvSpPr>
          <p:nvPr/>
        </p:nvSpPr>
        <p:spPr>
          <a:xfrm>
            <a:off x="3949119" y="3025385"/>
            <a:ext cx="2638500" cy="58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oppins"/>
              <a:buNone/>
              <a:defRPr sz="33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solidFill>
                  <a:srgbClr val="52AA60"/>
                </a:solidFill>
              </a:rPr>
              <a:t>Insight:</a:t>
            </a:r>
            <a:endParaRPr lang="id-ID" sz="1600" dirty="0">
              <a:solidFill>
                <a:srgbClr val="52AA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315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4D66-987B-8C73-CE7E-658BED4E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93D3320-C775-3B12-1869-4CA106A6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68" y="480885"/>
            <a:ext cx="2638500" cy="580167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C4F63B"/>
                </a:solidFill>
              </a:rPr>
              <a:t>Peak Hour</a:t>
            </a:r>
            <a:endParaRPr lang="id-ID" sz="1600" dirty="0">
              <a:solidFill>
                <a:srgbClr val="C4F63B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3EA645F-105B-5077-71C2-48AFF3B90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512" y="951571"/>
            <a:ext cx="3137210" cy="408134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d-ID" sz="1200" dirty="0">
                <a:solidFill>
                  <a:schemeClr val="bg1"/>
                </a:solidFill>
              </a:rPr>
              <a:t>Penumpang </a:t>
            </a:r>
            <a:r>
              <a:rPr lang="id-ID" sz="1200" dirty="0" err="1">
                <a:solidFill>
                  <a:schemeClr val="bg1"/>
                </a:solidFill>
              </a:rPr>
              <a:t>Transjakarta</a:t>
            </a:r>
            <a:r>
              <a:rPr lang="id-ID" sz="1200" dirty="0">
                <a:solidFill>
                  <a:schemeClr val="bg1"/>
                </a:solidFill>
              </a:rPr>
              <a:t> adalah "</a:t>
            </a:r>
            <a:r>
              <a:rPr lang="id-ID" sz="1200" i="1" dirty="0">
                <a:solidFill>
                  <a:schemeClr val="bg1"/>
                </a:solidFill>
              </a:rPr>
              <a:t>Long-</a:t>
            </a:r>
            <a:r>
              <a:rPr lang="id-ID" sz="1200" i="1" dirty="0" err="1">
                <a:solidFill>
                  <a:schemeClr val="bg1"/>
                </a:solidFill>
              </a:rPr>
              <a:t>Distance</a:t>
            </a:r>
            <a:r>
              <a:rPr lang="id-ID" sz="1200" i="1" dirty="0">
                <a:solidFill>
                  <a:schemeClr val="bg1"/>
                </a:solidFill>
              </a:rPr>
              <a:t> </a:t>
            </a:r>
            <a:r>
              <a:rPr lang="id-ID" sz="1200" i="1" dirty="0" err="1">
                <a:solidFill>
                  <a:schemeClr val="bg1"/>
                </a:solidFill>
              </a:rPr>
              <a:t>Commuters</a:t>
            </a:r>
            <a:r>
              <a:rPr lang="id-ID" sz="1200" dirty="0">
                <a:solidFill>
                  <a:schemeClr val="bg1"/>
                </a:solidFill>
              </a:rPr>
              <a:t>". Mereka harus berangkat sangat pagi </a:t>
            </a:r>
            <a:r>
              <a:rPr lang="id-ID" sz="1200" b="1" dirty="0">
                <a:solidFill>
                  <a:schemeClr val="bg1"/>
                </a:solidFill>
              </a:rPr>
              <a:t>(jam 5-6)</a:t>
            </a:r>
            <a:r>
              <a:rPr lang="id-ID" sz="1200" dirty="0">
                <a:solidFill>
                  <a:schemeClr val="bg1"/>
                </a:solidFill>
              </a:rPr>
              <a:t> dari daerah penyangga (Bekasi, Depok, Tangerang) agar bisa sampai di kantor pusat Jakarta jam 8. Penumpang</a:t>
            </a:r>
            <a:r>
              <a:rPr lang="id-ID" sz="1200" b="1" dirty="0">
                <a:solidFill>
                  <a:schemeClr val="bg1"/>
                </a:solidFill>
              </a:rPr>
              <a:t> jam 7-8</a:t>
            </a:r>
            <a:r>
              <a:rPr lang="id-ID" sz="1200" dirty="0">
                <a:solidFill>
                  <a:schemeClr val="bg1"/>
                </a:solidFill>
              </a:rPr>
              <a:t> hanyalah "gelombang kedua" yang jarak rumahnya lebih dekat.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Lonjakan</a:t>
            </a:r>
            <a:r>
              <a:rPr lang="en-US" sz="1200" dirty="0">
                <a:solidFill>
                  <a:schemeClr val="bg1"/>
                </a:solidFill>
              </a:rPr>
              <a:t> sangat </a:t>
            </a:r>
            <a:r>
              <a:rPr lang="en-US" sz="1200" dirty="0" err="1">
                <a:solidFill>
                  <a:schemeClr val="bg1"/>
                </a:solidFill>
              </a:rPr>
              <a:t>cepat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jam </a:t>
            </a:r>
            <a:r>
              <a:rPr lang="en-US" sz="1200" b="1" dirty="0">
                <a:solidFill>
                  <a:schemeClr val="bg1"/>
                </a:solidFill>
              </a:rPr>
              <a:t>15.00 (385) </a:t>
            </a:r>
            <a:r>
              <a:rPr lang="en-US" sz="1200" dirty="0" err="1">
                <a:solidFill>
                  <a:schemeClr val="bg1"/>
                </a:solidFill>
              </a:rPr>
              <a:t>meledak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</a:t>
            </a:r>
            <a:r>
              <a:rPr lang="en-US" sz="1200" dirty="0">
                <a:solidFill>
                  <a:schemeClr val="bg1"/>
                </a:solidFill>
              </a:rPr>
              <a:t> jam </a:t>
            </a:r>
            <a:r>
              <a:rPr lang="en-US" sz="1200" b="1" dirty="0">
                <a:solidFill>
                  <a:schemeClr val="bg1"/>
                </a:solidFill>
              </a:rPr>
              <a:t>17.00 (5.242).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Terjadi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penurunan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trafik</a:t>
            </a:r>
            <a:r>
              <a:rPr lang="en-US" sz="1200" dirty="0">
                <a:solidFill>
                  <a:schemeClr val="bg1"/>
                </a:solidFill>
              </a:rPr>
              <a:t> sangat </a:t>
            </a:r>
            <a:r>
              <a:rPr lang="en-US" sz="1200" dirty="0" err="1">
                <a:solidFill>
                  <a:schemeClr val="bg1"/>
                </a:solidFill>
              </a:rPr>
              <a:t>ekstrem</a:t>
            </a:r>
            <a:r>
              <a:rPr lang="en-US" sz="1200" dirty="0">
                <a:solidFill>
                  <a:schemeClr val="bg1"/>
                </a:solidFill>
              </a:rPr>
              <a:t> pada </a:t>
            </a:r>
            <a:r>
              <a:rPr lang="en-US" sz="1200" dirty="0" err="1">
                <a:solidFill>
                  <a:schemeClr val="bg1"/>
                </a:solidFill>
              </a:rPr>
              <a:t>siang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hari</a:t>
            </a:r>
            <a:r>
              <a:rPr lang="en-US" sz="1200" dirty="0">
                <a:solidFill>
                  <a:schemeClr val="bg1"/>
                </a:solidFill>
              </a:rPr>
              <a:t> di jam </a:t>
            </a:r>
            <a:r>
              <a:rPr lang="en-US" sz="1200" b="1" dirty="0">
                <a:solidFill>
                  <a:schemeClr val="bg1"/>
                </a:solidFill>
              </a:rPr>
              <a:t>10.00 s/d 14.00 </a:t>
            </a:r>
            <a:r>
              <a:rPr lang="en-US" sz="1200" dirty="0" err="1">
                <a:solidFill>
                  <a:schemeClr val="bg1"/>
                </a:solidFill>
              </a:rPr>
              <a:t>dengan</a:t>
            </a:r>
            <a:r>
              <a:rPr lang="en-US" sz="1200" dirty="0">
                <a:solidFill>
                  <a:schemeClr val="bg1"/>
                </a:solidFill>
              </a:rPr>
              <a:t> rata-rata </a:t>
            </a:r>
            <a:r>
              <a:rPr lang="en-US" sz="1200" dirty="0" err="1">
                <a:solidFill>
                  <a:schemeClr val="bg1"/>
                </a:solidFill>
              </a:rPr>
              <a:t>penumpang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hanya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200-300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orang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  <a:endParaRPr lang="id-ID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B3E1EA-EE83-D739-E3F2-3F7B315F4627}"/>
              </a:ext>
            </a:extLst>
          </p:cNvPr>
          <p:cNvSpPr txBox="1"/>
          <p:nvPr/>
        </p:nvSpPr>
        <p:spPr>
          <a:xfrm>
            <a:off x="3813717" y="3123441"/>
            <a:ext cx="473492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Terapkan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i="1" dirty="0">
                <a:latin typeface="Poppins" panose="00000500000000000000" pitchFamily="2" charset="0"/>
                <a:cs typeface="Poppins" panose="00000500000000000000" pitchFamily="2" charset="0"/>
              </a:rPr>
              <a:t>shift schedule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armada dan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pengemudi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Operasikan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100%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armada di jam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05.00-09.00 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dan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tarik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70%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armada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pool di jam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 10.00-14.00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i="1" dirty="0">
                <a:latin typeface="Poppins" panose="00000500000000000000" pitchFamily="2" charset="0"/>
                <a:cs typeface="Poppins" panose="00000500000000000000" pitchFamily="2" charset="0"/>
              </a:rPr>
              <a:t>maintenance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istirahat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Keluarkan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lagi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100% </a:t>
            </a:r>
            <a:r>
              <a:rPr lang="nb-NO" sz="1100" dirty="0">
                <a:latin typeface="Poppins" panose="00000500000000000000" pitchFamily="2" charset="0"/>
                <a:cs typeface="Poppins" panose="00000500000000000000" pitchFamily="2" charset="0"/>
              </a:rPr>
              <a:t>sudah </a:t>
            </a:r>
            <a:r>
              <a:rPr lang="nb-NO" sz="1100" i="1" dirty="0">
                <a:latin typeface="Poppins" panose="00000500000000000000" pitchFamily="2" charset="0"/>
                <a:cs typeface="Poppins" panose="00000500000000000000" pitchFamily="2" charset="0"/>
              </a:rPr>
              <a:t>full capacity </a:t>
            </a:r>
            <a:r>
              <a:rPr lang="nb-NO" sz="1100" dirty="0">
                <a:latin typeface="Poppins" panose="00000500000000000000" pitchFamily="2" charset="0"/>
                <a:cs typeface="Poppins" panose="00000500000000000000" pitchFamily="2" charset="0"/>
              </a:rPr>
              <a:t>sejak jam </a:t>
            </a:r>
            <a:r>
              <a:rPr lang="nb-NO" sz="1100" b="1" dirty="0">
                <a:latin typeface="Poppins" panose="00000500000000000000" pitchFamily="2" charset="0"/>
                <a:cs typeface="Poppins" panose="00000500000000000000" pitchFamily="2" charset="0"/>
              </a:rPr>
              <a:t>04.45 pagi. </a:t>
            </a:r>
            <a:r>
              <a:rPr lang="nb-NO" sz="1100" dirty="0">
                <a:latin typeface="Poppins" panose="00000500000000000000" pitchFamily="2" charset="0"/>
                <a:cs typeface="Poppins" panose="00000500000000000000" pitchFamily="2" charset="0"/>
              </a:rPr>
              <a:t>Keterlambatan ini akan membuat penumpang beralih ke moda transportasi lain.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d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2733BE-E513-BB22-BFFE-DE54EEB25B74}"/>
              </a:ext>
            </a:extLst>
          </p:cNvPr>
          <p:cNvSpPr txBox="1">
            <a:spLocks/>
          </p:cNvSpPr>
          <p:nvPr/>
        </p:nvSpPr>
        <p:spPr>
          <a:xfrm>
            <a:off x="3971421" y="2632475"/>
            <a:ext cx="2638500" cy="58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oppins"/>
              <a:buNone/>
              <a:defRPr sz="33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solidFill>
                  <a:srgbClr val="52AA60"/>
                </a:solidFill>
              </a:rPr>
              <a:t>Insight:</a:t>
            </a:r>
            <a:endParaRPr lang="id-ID" sz="1600" dirty="0">
              <a:solidFill>
                <a:srgbClr val="52AA6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D07776-83E8-1FD7-72FB-8F041ACB670D}"/>
              </a:ext>
            </a:extLst>
          </p:cNvPr>
          <p:cNvGrpSpPr/>
          <p:nvPr/>
        </p:nvGrpSpPr>
        <p:grpSpPr>
          <a:xfrm>
            <a:off x="3949119" y="703596"/>
            <a:ext cx="4214436" cy="1928879"/>
            <a:chOff x="3949119" y="951571"/>
            <a:chExt cx="4214436" cy="192887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9E7109D-F924-B029-6B6D-ECC653872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49119" y="951571"/>
              <a:ext cx="4214436" cy="192887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05C3D59-8BE8-11EB-9681-BA2D80F9A14B}"/>
                </a:ext>
              </a:extLst>
            </p:cNvPr>
            <p:cNvSpPr/>
            <p:nvPr/>
          </p:nvSpPr>
          <p:spPr>
            <a:xfrm>
              <a:off x="6475141" y="951571"/>
              <a:ext cx="676508" cy="1928879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96633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41A35-81A1-6F2A-6EB8-D0CFFC66A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B1590CA-EE97-82D5-8F3B-28AF316F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68" y="480885"/>
            <a:ext cx="2638500" cy="580167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C4F63B"/>
                </a:solidFill>
              </a:rPr>
              <a:t>Peak Day</a:t>
            </a:r>
            <a:endParaRPr lang="id-ID" sz="1600" dirty="0">
              <a:solidFill>
                <a:srgbClr val="C4F63B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2EDDAD3-2C2D-8311-609B-BAF95EF6C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512" y="951571"/>
            <a:ext cx="3137210" cy="4081346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chemeClr val="bg1"/>
                </a:solidFill>
              </a:rPr>
              <a:t>Variansi</a:t>
            </a:r>
            <a:r>
              <a:rPr lang="en-US" sz="1200" dirty="0">
                <a:solidFill>
                  <a:schemeClr val="bg1"/>
                </a:solidFill>
              </a:rPr>
              <a:t> hamper </a:t>
            </a:r>
            <a:r>
              <a:rPr lang="en-US" sz="1200" b="1" dirty="0">
                <a:solidFill>
                  <a:schemeClr val="bg1"/>
                </a:solidFill>
              </a:rPr>
              <a:t>0% </a:t>
            </a:r>
            <a:r>
              <a:rPr lang="en-US" sz="1200" dirty="0">
                <a:solidFill>
                  <a:schemeClr val="bg1"/>
                </a:solidFill>
              </a:rPr>
              <a:t>pada </a:t>
            </a:r>
            <a:r>
              <a:rPr lang="en-US" sz="1200" dirty="0" err="1">
                <a:solidFill>
                  <a:schemeClr val="bg1"/>
                </a:solidFill>
              </a:rPr>
              <a:t>hari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Senin-Jumat</a:t>
            </a:r>
            <a:r>
              <a:rPr lang="en-US" sz="1200" dirty="0">
                <a:solidFill>
                  <a:schemeClr val="bg1"/>
                </a:solidFill>
              </a:rPr>
              <a:t>. Ini </a:t>
            </a:r>
            <a:r>
              <a:rPr lang="en-US" sz="1200" dirty="0" err="1">
                <a:solidFill>
                  <a:schemeClr val="bg1"/>
                </a:solidFill>
              </a:rPr>
              <a:t>menandakan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Transjakarta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adalah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moda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transportasi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Murni </a:t>
            </a:r>
            <a:r>
              <a:rPr lang="en-US" sz="1200" b="1" dirty="0" err="1">
                <a:solidFill>
                  <a:schemeClr val="bg1"/>
                </a:solidFill>
              </a:rPr>
              <a:t>Komuter</a:t>
            </a:r>
            <a:r>
              <a:rPr lang="en-US" sz="1200" b="1" dirty="0">
                <a:solidFill>
                  <a:schemeClr val="bg1"/>
                </a:solidFill>
              </a:rPr>
              <a:t>.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Penumpangnya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adalah</a:t>
            </a:r>
            <a:r>
              <a:rPr lang="en-US" sz="1200" dirty="0">
                <a:solidFill>
                  <a:schemeClr val="bg1"/>
                </a:solidFill>
              </a:rPr>
              <a:t> orang yang </a:t>
            </a:r>
            <a:r>
              <a:rPr lang="en-US" sz="1200" dirty="0" err="1">
                <a:solidFill>
                  <a:schemeClr val="bg1"/>
                </a:solidFill>
              </a:rPr>
              <a:t>sama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dengan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rutinitas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sama</a:t>
            </a:r>
            <a:r>
              <a:rPr lang="en-US" sz="1200" dirty="0">
                <a:solidFill>
                  <a:schemeClr val="bg1"/>
                </a:solidFill>
              </a:rPr>
              <a:t>, jam yang </a:t>
            </a:r>
            <a:r>
              <a:rPr lang="en-US" sz="1200" dirty="0" err="1">
                <a:solidFill>
                  <a:schemeClr val="bg1"/>
                </a:solidFill>
              </a:rPr>
              <a:t>sama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setiap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hari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kerja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d-ID" sz="1200" dirty="0">
                <a:solidFill>
                  <a:schemeClr val="bg1"/>
                </a:solidFill>
              </a:rPr>
              <a:t>Saat perkantoran tutup, </a:t>
            </a:r>
            <a:r>
              <a:rPr lang="id-ID" sz="1200" dirty="0" err="1">
                <a:solidFill>
                  <a:schemeClr val="bg1"/>
                </a:solidFill>
              </a:rPr>
              <a:t>Transjakarta</a:t>
            </a:r>
            <a:r>
              <a:rPr lang="id-ID" sz="1200" dirty="0">
                <a:solidFill>
                  <a:schemeClr val="bg1"/>
                </a:solidFill>
              </a:rPr>
              <a:t> </a:t>
            </a:r>
            <a:r>
              <a:rPr lang="id-ID" sz="1200" b="1" dirty="0">
                <a:solidFill>
                  <a:schemeClr val="bg1"/>
                </a:solidFill>
              </a:rPr>
              <a:t>kehilangan 3/4 </a:t>
            </a:r>
            <a:r>
              <a:rPr lang="id-ID" sz="1200" dirty="0">
                <a:solidFill>
                  <a:schemeClr val="bg1"/>
                </a:solidFill>
              </a:rPr>
              <a:t>pelanggannya. Ini membuktikan bahwa warga Jakarta belum menjadikan </a:t>
            </a:r>
            <a:r>
              <a:rPr lang="id-ID" sz="1200" dirty="0" err="1">
                <a:solidFill>
                  <a:schemeClr val="bg1"/>
                </a:solidFill>
              </a:rPr>
              <a:t>Busway</a:t>
            </a:r>
            <a:r>
              <a:rPr lang="id-ID" sz="1200" dirty="0">
                <a:solidFill>
                  <a:schemeClr val="bg1"/>
                </a:solidFill>
              </a:rPr>
              <a:t> sebagai </a:t>
            </a:r>
            <a:r>
              <a:rPr lang="id-ID" sz="1200" dirty="0" err="1">
                <a:solidFill>
                  <a:schemeClr val="bg1"/>
                </a:solidFill>
              </a:rPr>
              <a:t>moda</a:t>
            </a:r>
            <a:r>
              <a:rPr lang="id-ID" sz="1200" dirty="0">
                <a:solidFill>
                  <a:schemeClr val="bg1"/>
                </a:solidFill>
              </a:rPr>
              <a:t> pilihan untuk jalan-jalan/wisata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Penumpang</a:t>
            </a:r>
            <a:r>
              <a:rPr lang="en-US" sz="1200" dirty="0">
                <a:solidFill>
                  <a:schemeClr val="bg1"/>
                </a:solidFill>
              </a:rPr>
              <a:t> di </a:t>
            </a:r>
            <a:r>
              <a:rPr lang="en-US" sz="1200" dirty="0" err="1">
                <a:solidFill>
                  <a:schemeClr val="bg1"/>
                </a:solidFill>
              </a:rPr>
              <a:t>hari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minggu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sedikit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lebih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tinggi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hari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sabtu</a:t>
            </a:r>
            <a:r>
              <a:rPr lang="en-US" sz="1200" b="1" dirty="0">
                <a:solidFill>
                  <a:schemeClr val="bg1"/>
                </a:solidFill>
              </a:rPr>
              <a:t>.</a:t>
            </a:r>
            <a:r>
              <a:rPr lang="en-US" sz="1200" dirty="0">
                <a:solidFill>
                  <a:schemeClr val="bg1"/>
                </a:solidFill>
              </a:rPr>
              <a:t> Ini </a:t>
            </a:r>
            <a:r>
              <a:rPr lang="en-US" sz="1200" dirty="0" err="1">
                <a:solidFill>
                  <a:schemeClr val="bg1"/>
                </a:solidFill>
              </a:rPr>
              <a:t>mungkin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terjadi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efek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CFD (</a:t>
            </a:r>
            <a:r>
              <a:rPr lang="en-US" sz="1200" b="1" i="1" dirty="0">
                <a:solidFill>
                  <a:schemeClr val="bg1"/>
                </a:solidFill>
              </a:rPr>
              <a:t>Car Free Day</a:t>
            </a:r>
            <a:r>
              <a:rPr lang="en-US" sz="1200" b="1" dirty="0">
                <a:solidFill>
                  <a:schemeClr val="bg1"/>
                </a:solidFill>
              </a:rPr>
              <a:t>), </a:t>
            </a:r>
            <a:r>
              <a:rPr lang="en-US" sz="1200" dirty="0">
                <a:solidFill>
                  <a:schemeClr val="bg1"/>
                </a:solidFill>
              </a:rPr>
              <a:t>di mana </a:t>
            </a:r>
            <a:r>
              <a:rPr lang="en-US" sz="1200" dirty="0" err="1">
                <a:solidFill>
                  <a:schemeClr val="bg1"/>
                </a:solidFill>
              </a:rPr>
              <a:t>warga</a:t>
            </a:r>
            <a:r>
              <a:rPr lang="en-US" sz="1200" dirty="0">
                <a:solidFill>
                  <a:schemeClr val="bg1"/>
                </a:solidFill>
              </a:rPr>
              <a:t> naik bus </a:t>
            </a:r>
            <a:r>
              <a:rPr lang="en-US" sz="1200" dirty="0" err="1">
                <a:solidFill>
                  <a:schemeClr val="bg1"/>
                </a:solidFill>
              </a:rPr>
              <a:t>untuk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olahraga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pagi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atau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banyaknya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warga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pergi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tempat</a:t>
            </a:r>
            <a:r>
              <a:rPr lang="en-US" sz="1200" dirty="0">
                <a:solidFill>
                  <a:schemeClr val="bg1"/>
                </a:solidFill>
              </a:rPr>
              <a:t> ibadah/</a:t>
            </a:r>
            <a:r>
              <a:rPr lang="en-US" sz="1200" dirty="0" err="1">
                <a:solidFill>
                  <a:schemeClr val="bg1"/>
                </a:solidFill>
              </a:rPr>
              <a:t>kondangan</a:t>
            </a:r>
            <a:r>
              <a:rPr lang="en-US" sz="1200" dirty="0">
                <a:solidFill>
                  <a:schemeClr val="bg1"/>
                </a:solidFill>
              </a:rPr>
              <a:t> di </a:t>
            </a:r>
            <a:r>
              <a:rPr lang="en-US" sz="1200" dirty="0" err="1">
                <a:solidFill>
                  <a:schemeClr val="bg1"/>
                </a:solidFill>
              </a:rPr>
              <a:t>hari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Minggu</a:t>
            </a:r>
            <a:r>
              <a:rPr lang="en-US" sz="1200" b="1" dirty="0">
                <a:solidFill>
                  <a:schemeClr val="bg1"/>
                </a:solidFill>
              </a:rPr>
              <a:t>.</a:t>
            </a:r>
            <a:endParaRPr lang="id-ID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05EFF5-AAEA-2B30-B089-FCB45E708B80}"/>
              </a:ext>
            </a:extLst>
          </p:cNvPr>
          <p:cNvSpPr txBox="1"/>
          <p:nvPr/>
        </p:nvSpPr>
        <p:spPr>
          <a:xfrm>
            <a:off x="3813717" y="3123441"/>
            <a:ext cx="47349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Dengan penurunan </a:t>
            </a:r>
            <a:r>
              <a:rPr lang="id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trafik</a:t>
            </a: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d-ID" sz="1100" b="1" dirty="0">
                <a:latin typeface="Poppins" panose="00000500000000000000" pitchFamily="2" charset="0"/>
                <a:cs typeface="Poppins" panose="00000500000000000000" pitchFamily="2" charset="0"/>
              </a:rPr>
              <a:t>73%</a:t>
            </a:r>
            <a:r>
              <a:rPr lang="id-ID" sz="1100" dirty="0">
                <a:latin typeface="Poppins" panose="00000500000000000000" pitchFamily="2" charset="0"/>
                <a:cs typeface="Poppins" panose="00000500000000000000" pitchFamily="2" charset="0"/>
              </a:rPr>
              <a:t> di akhir pekan, operasional armada harus dipangkas drastis untuk mencegah kerugian operasional.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Karena weekend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penurunan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jumlah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penumpang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bisa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terapkan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kampanye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“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Wisata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Keliling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Jakarta Murah.” Ambil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rute-rute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wisata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dipromosikan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khusus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Sabtu-</a:t>
            </a:r>
            <a:r>
              <a:rPr lang="en-US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Minggu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id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21F4FF3-7722-BF49-FF28-1F9C5DD31E85}"/>
              </a:ext>
            </a:extLst>
          </p:cNvPr>
          <p:cNvSpPr txBox="1">
            <a:spLocks/>
          </p:cNvSpPr>
          <p:nvPr/>
        </p:nvSpPr>
        <p:spPr>
          <a:xfrm>
            <a:off x="3971421" y="2632475"/>
            <a:ext cx="2638500" cy="58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oppins"/>
              <a:buNone/>
              <a:defRPr sz="33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solidFill>
                  <a:srgbClr val="52AA60"/>
                </a:solidFill>
              </a:rPr>
              <a:t>Insight:</a:t>
            </a:r>
            <a:endParaRPr lang="id-ID" sz="1600" dirty="0">
              <a:solidFill>
                <a:srgbClr val="52AA6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6FEE06-9326-1788-9551-391906E0D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867" y="627069"/>
            <a:ext cx="4348905" cy="20054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3296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BD651-FA45-ED03-A7FA-5D1FA95B6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8E5C3DA-D0C3-B2E3-80E1-10991D52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68" y="480885"/>
            <a:ext cx="2638500" cy="580167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C4F63B"/>
                </a:solidFill>
              </a:rPr>
              <a:t>Rute paling </a:t>
            </a:r>
            <a:r>
              <a:rPr lang="en-US" sz="1600" dirty="0" err="1">
                <a:solidFill>
                  <a:srgbClr val="C4F63B"/>
                </a:solidFill>
              </a:rPr>
              <a:t>padat</a:t>
            </a:r>
            <a:endParaRPr lang="id-ID" sz="1600" dirty="0">
              <a:solidFill>
                <a:srgbClr val="C4F63B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9D12B48-5D19-CB67-D467-346DB36CA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512" y="951571"/>
            <a:ext cx="3137210" cy="408134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Rute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Cibubur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menjadi</a:t>
            </a:r>
            <a:r>
              <a:rPr lang="en-US" sz="1200" dirty="0">
                <a:solidFill>
                  <a:schemeClr val="bg1"/>
                </a:solidFill>
              </a:rPr>
              <a:t> yang paling </a:t>
            </a:r>
            <a:r>
              <a:rPr lang="en-US" sz="1200" dirty="0" err="1">
                <a:solidFill>
                  <a:schemeClr val="bg1"/>
                </a:solidFill>
              </a:rPr>
              <a:t>ramai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karena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akses</a:t>
            </a:r>
            <a:r>
              <a:rPr lang="en-US" sz="1200" dirty="0">
                <a:solidFill>
                  <a:schemeClr val="bg1"/>
                </a:solidFill>
              </a:rPr>
              <a:t> KRL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sana </a:t>
            </a:r>
            <a:r>
              <a:rPr lang="en-US" sz="1200" dirty="0" err="1">
                <a:solidFill>
                  <a:schemeClr val="bg1"/>
                </a:solidFill>
              </a:rPr>
              <a:t>tidak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sedekat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Bekasi/</a:t>
            </a:r>
            <a:r>
              <a:rPr lang="en-US" sz="1200" b="1" dirty="0" err="1">
                <a:solidFill>
                  <a:schemeClr val="bg1"/>
                </a:solidFill>
              </a:rPr>
              <a:t>Serpong</a:t>
            </a:r>
            <a:r>
              <a:rPr lang="en-US" sz="1200" dirty="0">
                <a:solidFill>
                  <a:schemeClr val="bg1"/>
                </a:solidFill>
              </a:rPr>
              <a:t>. </a:t>
            </a:r>
            <a:r>
              <a:rPr lang="en-US" sz="1200" dirty="0" err="1">
                <a:solidFill>
                  <a:schemeClr val="bg1"/>
                </a:solidFill>
              </a:rPr>
              <a:t>Mereka</a:t>
            </a:r>
            <a:r>
              <a:rPr lang="en-US" sz="1200" dirty="0">
                <a:solidFill>
                  <a:schemeClr val="bg1"/>
                </a:solidFill>
              </a:rPr>
              <a:t> sangat </a:t>
            </a:r>
            <a:r>
              <a:rPr lang="en-US" sz="1200" dirty="0" err="1">
                <a:solidFill>
                  <a:schemeClr val="bg1"/>
                </a:solidFill>
              </a:rPr>
              <a:t>bergantung</a:t>
            </a:r>
            <a:r>
              <a:rPr lang="en-US" sz="1200" dirty="0">
                <a:solidFill>
                  <a:schemeClr val="bg1"/>
                </a:solidFill>
              </a:rPr>
              <a:t> pada </a:t>
            </a:r>
            <a:r>
              <a:rPr lang="en-US" sz="1200" dirty="0" err="1">
                <a:solidFill>
                  <a:schemeClr val="bg1"/>
                </a:solidFill>
              </a:rPr>
              <a:t>Transjakarta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Rute yang </a:t>
            </a:r>
            <a:r>
              <a:rPr lang="en-US" sz="1200" dirty="0" err="1">
                <a:solidFill>
                  <a:schemeClr val="bg1"/>
                </a:solidFill>
              </a:rPr>
              <a:t>tujuan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akhirnya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Kuningan</a:t>
            </a:r>
            <a:r>
              <a:rPr lang="en-US" sz="1200" b="1" dirty="0">
                <a:solidFill>
                  <a:schemeClr val="bg1"/>
                </a:solidFill>
              </a:rPr>
              <a:t>, Balai Kota, </a:t>
            </a:r>
            <a:r>
              <a:rPr lang="en-US" sz="1200" b="1" dirty="0" err="1">
                <a:solidFill>
                  <a:schemeClr val="bg1"/>
                </a:solidFill>
              </a:rPr>
              <a:t>Bundaran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Senayan</a:t>
            </a:r>
            <a:r>
              <a:rPr lang="en-US" sz="1200" b="1" dirty="0">
                <a:solidFill>
                  <a:schemeClr val="bg1"/>
                </a:solidFill>
              </a:rPr>
              <a:t>, Blok M, </a:t>
            </a:r>
            <a:r>
              <a:rPr lang="en-US" sz="1200" b="1" dirty="0" err="1">
                <a:solidFill>
                  <a:schemeClr val="bg1"/>
                </a:solidFill>
              </a:rPr>
              <a:t>Fatmawati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menandakan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bahwa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penumpangnya</a:t>
            </a:r>
            <a:r>
              <a:rPr lang="en-US" sz="1200" dirty="0">
                <a:solidFill>
                  <a:schemeClr val="bg1"/>
                </a:solidFill>
              </a:rPr>
              <a:t> Adalah </a:t>
            </a:r>
            <a:r>
              <a:rPr lang="en-US" sz="1200" dirty="0" err="1">
                <a:solidFill>
                  <a:schemeClr val="bg1"/>
                </a:solidFill>
              </a:rPr>
              <a:t>pekerja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kantoran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tinggal</a:t>
            </a:r>
            <a:r>
              <a:rPr lang="en-US" sz="1200" dirty="0">
                <a:solidFill>
                  <a:schemeClr val="bg1"/>
                </a:solidFill>
              </a:rPr>
              <a:t> di </a:t>
            </a:r>
            <a:r>
              <a:rPr lang="en-US" sz="1200" dirty="0" err="1">
                <a:solidFill>
                  <a:schemeClr val="bg1"/>
                </a:solidFill>
              </a:rPr>
              <a:t>pinggiran</a:t>
            </a:r>
            <a:r>
              <a:rPr lang="en-US" sz="1200" dirty="0">
                <a:solidFill>
                  <a:schemeClr val="bg1"/>
                </a:solidFill>
              </a:rPr>
              <a:t> Jakarta.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Jika </a:t>
            </a:r>
            <a:r>
              <a:rPr lang="en-US" sz="1200" dirty="0" err="1">
                <a:solidFill>
                  <a:schemeClr val="bg1"/>
                </a:solidFill>
              </a:rPr>
              <a:t>dilihat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dari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asal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penumpang</a:t>
            </a:r>
            <a:r>
              <a:rPr lang="en-US" sz="1200" dirty="0">
                <a:solidFill>
                  <a:schemeClr val="bg1"/>
                </a:solidFill>
              </a:rPr>
              <a:t> yang </a:t>
            </a:r>
            <a:r>
              <a:rPr lang="en-US" sz="1200" dirty="0" err="1">
                <a:solidFill>
                  <a:schemeClr val="bg1"/>
                </a:solidFill>
              </a:rPr>
              <a:t>ada</a:t>
            </a:r>
            <a:r>
              <a:rPr lang="en-US" sz="1200" dirty="0">
                <a:solidFill>
                  <a:schemeClr val="bg1"/>
                </a:solidFill>
              </a:rPr>
              <a:t> di Top 10 </a:t>
            </a:r>
            <a:r>
              <a:rPr lang="en-US" sz="1200" dirty="0" err="1">
                <a:solidFill>
                  <a:schemeClr val="bg1"/>
                </a:solidFill>
              </a:rPr>
              <a:t>rute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terpadat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ini</a:t>
            </a:r>
            <a:r>
              <a:rPr lang="en-US" sz="1200" dirty="0">
                <a:solidFill>
                  <a:schemeClr val="bg1"/>
                </a:solidFill>
              </a:rPr>
              <a:t> sangat </a:t>
            </a:r>
            <a:r>
              <a:rPr lang="en-US" sz="1200" dirty="0" err="1">
                <a:solidFill>
                  <a:schemeClr val="bg1"/>
                </a:solidFill>
              </a:rPr>
              <a:t>mengonfirmasi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bahwa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Transjakarta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bukan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hanya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milik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warga</a:t>
            </a:r>
            <a:r>
              <a:rPr lang="en-US" sz="1200" dirty="0">
                <a:solidFill>
                  <a:schemeClr val="bg1"/>
                </a:solidFill>
              </a:rPr>
              <a:t> DKI, </a:t>
            </a:r>
            <a:r>
              <a:rPr lang="en-US" sz="1200" dirty="0" err="1">
                <a:solidFill>
                  <a:schemeClr val="bg1"/>
                </a:solidFill>
              </a:rPr>
              <a:t>tapi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tulang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punggung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warga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Bodetabek</a:t>
            </a:r>
            <a:r>
              <a:rPr lang="en-US" sz="1200" b="1" dirty="0">
                <a:solidFill>
                  <a:schemeClr val="bg1"/>
                </a:solidFill>
              </a:rPr>
              <a:t>.</a:t>
            </a:r>
            <a:endParaRPr lang="id-ID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022D4C-0C31-E5AF-22F6-6909C19E84E1}"/>
              </a:ext>
            </a:extLst>
          </p:cNvPr>
          <p:cNvSpPr txBox="1"/>
          <p:nvPr/>
        </p:nvSpPr>
        <p:spPr>
          <a:xfrm>
            <a:off x="3681369" y="3264691"/>
            <a:ext cx="4734926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1050" dirty="0">
                <a:latin typeface="Poppins" panose="00000500000000000000" pitchFamily="2" charset="0"/>
                <a:cs typeface="Poppins" panose="00000500000000000000" pitchFamily="2" charset="0"/>
              </a:rPr>
              <a:t>Pertahankan rute "</a:t>
            </a:r>
            <a:r>
              <a:rPr lang="id-ID" sz="1050" i="1" dirty="0" err="1">
                <a:latin typeface="Poppins" panose="00000500000000000000" pitchFamily="2" charset="0"/>
                <a:cs typeface="Poppins" panose="00000500000000000000" pitchFamily="2" charset="0"/>
              </a:rPr>
              <a:t>Direct</a:t>
            </a:r>
            <a:r>
              <a:rPr lang="id-ID" sz="1050" i="1" dirty="0">
                <a:latin typeface="Poppins" panose="00000500000000000000" pitchFamily="2" charset="0"/>
                <a:cs typeface="Poppins" panose="00000500000000000000" pitchFamily="2" charset="0"/>
              </a:rPr>
              <a:t> Service</a:t>
            </a:r>
            <a:r>
              <a:rPr lang="id-ID" sz="1050" dirty="0">
                <a:latin typeface="Poppins" panose="00000500000000000000" pitchFamily="2" charset="0"/>
                <a:cs typeface="Poppins" panose="00000500000000000000" pitchFamily="2" charset="0"/>
              </a:rPr>
              <a:t>" ini di jam sibuk pagi/sore. Jangan memaksa mereka transit di halte sentral (seperti </a:t>
            </a:r>
            <a:r>
              <a:rPr lang="id-ID" sz="1050" b="1" dirty="0">
                <a:latin typeface="Poppins" panose="00000500000000000000" pitchFamily="2" charset="0"/>
                <a:cs typeface="Poppins" panose="00000500000000000000" pitchFamily="2" charset="0"/>
              </a:rPr>
              <a:t>Cawang/Harmoni</a:t>
            </a:r>
            <a:r>
              <a:rPr lang="id-ID" sz="1050" dirty="0">
                <a:latin typeface="Poppins" panose="00000500000000000000" pitchFamily="2" charset="0"/>
                <a:cs typeface="Poppins" panose="00000500000000000000" pitchFamily="2" charset="0"/>
              </a:rPr>
              <a:t>) karena akan menambah waktu tempuh dan menurunkan minat naik bus.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1050" dirty="0">
                <a:latin typeface="Poppins" panose="00000500000000000000" pitchFamily="2" charset="0"/>
                <a:cs typeface="Poppins" panose="00000500000000000000" pitchFamily="2" charset="0"/>
              </a:rPr>
              <a:t>Penumpang dari </a:t>
            </a:r>
            <a:r>
              <a:rPr lang="id-ID" sz="1050" b="1" dirty="0">
                <a:latin typeface="Poppins" panose="00000500000000000000" pitchFamily="2" charset="0"/>
                <a:cs typeface="Poppins" panose="00000500000000000000" pitchFamily="2" charset="0"/>
              </a:rPr>
              <a:t>BSD, Bintaro, </a:t>
            </a:r>
            <a:r>
              <a:rPr lang="id-ID" sz="1050" dirty="0">
                <a:latin typeface="Poppins" panose="00000500000000000000" pitchFamily="2" charset="0"/>
                <a:cs typeface="Poppins" panose="00000500000000000000" pitchFamily="2" charset="0"/>
              </a:rPr>
              <a:t>dan</a:t>
            </a:r>
            <a:r>
              <a:rPr lang="id-ID" sz="105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d-ID" sz="1050" b="1" dirty="0" err="1">
                <a:latin typeface="Poppins" panose="00000500000000000000" pitchFamily="2" charset="0"/>
                <a:cs typeface="Poppins" panose="00000500000000000000" pitchFamily="2" charset="0"/>
              </a:rPr>
              <a:t>Cibubur</a:t>
            </a:r>
            <a:r>
              <a:rPr lang="id-ID" sz="105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d-ID" sz="1050" dirty="0">
                <a:latin typeface="Poppins" panose="00000500000000000000" pitchFamily="2" charset="0"/>
                <a:cs typeface="Poppins" panose="00000500000000000000" pitchFamily="2" charset="0"/>
              </a:rPr>
              <a:t>biasanya kalangan menengah atas yang punya mobil.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Pastikan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area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parkir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(Park &amp; Ride) di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titik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awal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US" sz="1050" b="1" dirty="0" err="1">
                <a:latin typeface="Poppins" panose="00000500000000000000" pitchFamily="2" charset="0"/>
                <a:cs typeface="Poppins" panose="00000500000000000000" pitchFamily="2" charset="0"/>
              </a:rPr>
              <a:t>Halte</a:t>
            </a:r>
            <a:r>
              <a:rPr lang="en-US" sz="105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50" b="1" dirty="0" err="1">
                <a:latin typeface="Poppins" panose="00000500000000000000" pitchFamily="2" charset="0"/>
                <a:cs typeface="Poppins" panose="00000500000000000000" pitchFamily="2" charset="0"/>
              </a:rPr>
              <a:t>Cibubur</a:t>
            </a:r>
            <a:r>
              <a:rPr lang="en-US" sz="1050" b="1" dirty="0">
                <a:latin typeface="Poppins" panose="00000500000000000000" pitchFamily="2" charset="0"/>
                <a:cs typeface="Poppins" panose="00000500000000000000" pitchFamily="2" charset="0"/>
              </a:rPr>
              <a:t> Junction, </a:t>
            </a:r>
            <a:r>
              <a:rPr lang="en-US" sz="1050" b="1" dirty="0" err="1">
                <a:latin typeface="Poppins" panose="00000500000000000000" pitchFamily="2" charset="0"/>
                <a:cs typeface="Poppins" panose="00000500000000000000" pitchFamily="2" charset="0"/>
              </a:rPr>
              <a:t>Halte</a:t>
            </a:r>
            <a:r>
              <a:rPr lang="en-US" sz="105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50" b="1" dirty="0" err="1">
                <a:latin typeface="Poppins" panose="00000500000000000000" pitchFamily="2" charset="0"/>
                <a:cs typeface="Poppins" panose="00000500000000000000" pitchFamily="2" charset="0"/>
              </a:rPr>
              <a:t>Summarecon</a:t>
            </a:r>
            <a:r>
              <a:rPr lang="en-US" sz="1050" b="1" dirty="0">
                <a:latin typeface="Poppins" panose="00000500000000000000" pitchFamily="2" charset="0"/>
                <a:cs typeface="Poppins" panose="00000500000000000000" pitchFamily="2" charset="0"/>
              </a:rPr>
              <a:t> Bekasi, </a:t>
            </a:r>
            <a:r>
              <a:rPr lang="en-US" sz="1050" b="1" dirty="0" err="1">
                <a:latin typeface="Poppins" panose="00000500000000000000" pitchFamily="2" charset="0"/>
                <a:cs typeface="Poppins" panose="00000500000000000000" pitchFamily="2" charset="0"/>
              </a:rPr>
              <a:t>Halte</a:t>
            </a:r>
            <a:r>
              <a:rPr lang="en-US" sz="1050" b="1" dirty="0">
                <a:latin typeface="Poppins" panose="00000500000000000000" pitchFamily="2" charset="0"/>
                <a:cs typeface="Poppins" panose="00000500000000000000" pitchFamily="2" charset="0"/>
              </a:rPr>
              <a:t> BSD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)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diperluas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aman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. Jika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parkirnya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susah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mereka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akan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kembali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bawa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mobil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50" dirty="0" err="1">
                <a:latin typeface="Poppins" panose="00000500000000000000" pitchFamily="2" charset="0"/>
                <a:cs typeface="Poppins" panose="00000500000000000000" pitchFamily="2" charset="0"/>
              </a:rPr>
              <a:t>kantor</a:t>
            </a:r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id-ID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DF45421-CFA2-F6DE-E969-10F624FA5950}"/>
              </a:ext>
            </a:extLst>
          </p:cNvPr>
          <p:cNvSpPr txBox="1">
            <a:spLocks/>
          </p:cNvSpPr>
          <p:nvPr/>
        </p:nvSpPr>
        <p:spPr>
          <a:xfrm>
            <a:off x="3839073" y="2773725"/>
            <a:ext cx="2638500" cy="58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oppins"/>
              <a:buNone/>
              <a:defRPr sz="33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solidFill>
                  <a:srgbClr val="52AA60"/>
                </a:solidFill>
              </a:rPr>
              <a:t>Insight:</a:t>
            </a:r>
            <a:endParaRPr lang="id-ID" sz="1600" dirty="0">
              <a:solidFill>
                <a:srgbClr val="52AA6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A9DB40-0024-E141-05BC-FA4BE1F8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578" y="409527"/>
            <a:ext cx="5761219" cy="25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36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7A92B8D4-C777-A3EF-D6CB-BDA3562A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9AC4DA5B-2B91-DFFF-C9BA-F4E2BD455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17" y="1081135"/>
            <a:ext cx="7002966" cy="3315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FF88B4-943F-6B95-5171-D8EEE903F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6" y="393718"/>
            <a:ext cx="9144000" cy="53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834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6;p1">
            <a:extLst>
              <a:ext uri="{FF2B5EF4-FFF2-40B4-BE49-F238E27FC236}">
                <a16:creationId xmlns:a16="http://schemas.microsoft.com/office/drawing/2014/main" id="{13631EAC-AD77-F8CA-65DE-68080E182426}"/>
              </a:ext>
            </a:extLst>
          </p:cNvPr>
          <p:cNvSpPr txBox="1"/>
          <p:nvPr/>
        </p:nvSpPr>
        <p:spPr>
          <a:xfrm>
            <a:off x="438724" y="1155545"/>
            <a:ext cx="5159189" cy="2832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id-ID" sz="2400" b="1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Irfan Maulana</a:t>
            </a:r>
            <a:endParaRPr lang="en" sz="2400" b="1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Data Analyst – Final Project Ms. Excel DQLab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b="1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Follow me: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Instagram: @i.ipaang</a:t>
            </a:r>
          </a:p>
          <a:p>
            <a:pPr lvl="0"/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LinkedIn: </a:t>
            </a:r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3"/>
              </a:rPr>
              <a:t>https://www.linkedin.com/in/maulana-irfan/</a:t>
            </a:r>
            <a:endParaRPr lang="en-US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lvl="0"/>
            <a:r>
              <a:rPr lang="en-US" dirty="0" err="1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Github</a:t>
            </a:r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: </a:t>
            </a:r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4"/>
              </a:rPr>
              <a:t>https://github.com/fafnir96</a:t>
            </a:r>
            <a:endParaRPr lang="en-US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lvl="0"/>
            <a:endParaRPr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1388</Words>
  <Application>Microsoft Office PowerPoint</Application>
  <PresentationFormat>On-screen Show (16:9)</PresentationFormat>
  <Paragraphs>80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Angie</vt:lpstr>
      <vt:lpstr>Poppins SemiBold</vt:lpstr>
      <vt:lpstr>Arial</vt:lpstr>
      <vt:lpstr>Poppins Light</vt:lpstr>
      <vt:lpstr>Poppins</vt:lpstr>
      <vt:lpstr>Simple Light</vt:lpstr>
      <vt:lpstr>PowerPoint Presentation</vt:lpstr>
      <vt:lpstr>Business Overview Transjakarta</vt:lpstr>
      <vt:lpstr>Storytelling Dataset Transjakarta</vt:lpstr>
      <vt:lpstr>Misi utama dalam proyek ini:</vt:lpstr>
      <vt:lpstr>Data Preparation</vt:lpstr>
      <vt:lpstr>Transjakarta Overview April 2023</vt:lpstr>
      <vt:lpstr>Berdasarkan penumpang </vt:lpstr>
      <vt:lpstr>Revenue Berdasarkan Metode Pembayaran</vt:lpstr>
      <vt:lpstr>The Golden 5 Hours</vt:lpstr>
      <vt:lpstr>Peak Hour</vt:lpstr>
      <vt:lpstr>Peak Day</vt:lpstr>
      <vt:lpstr>Rute paling padat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Axioo Pongo</dc:creator>
  <cp:lastModifiedBy>Irfan Maulana</cp:lastModifiedBy>
  <cp:revision>37</cp:revision>
  <dcterms:modified xsi:type="dcterms:W3CDTF">2025-12-20T17:33:05Z</dcterms:modified>
</cp:coreProperties>
</file>